
<file path=[Content_Types].xml><?xml version="1.0" encoding="utf-8"?>
<Types xmlns="http://schemas.openxmlformats.org/package/2006/content-types"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1"/>
    <p:sldId id="267" r:id="rId13"/>
    <p:sldId id="269" r:id="rId15"/>
    <p:sldId id="270" r:id="rId1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D80CD1F4-5D1B-4148-9671-C91262C6E6FF}"/>
              </a:ext>
            </a:extLst>
          </p:cNvPr>
          <p:cNvPicPr/>
          <p:nvPr/>
        </p:nvPicPr>
        <p:blipFill>
          <a:blip r:embed="rId2"/>
          <a:srcRect l="23810" r="23810"/>
          <a:stretch>
            <a:fillRect/>
          </a:stretch>
        </p:blipFill>
        <p:spPr>
          <a:xfrm>
            <a:off x="5905500" y="0"/>
            <a:ext cx="6286500" cy="68580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42BEC954-0E43-48D9-99E7-F298B8299E03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B122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0C21940-3CAC-4BA0-B3EA-79AED89F1B6A}"/>
              </a:ext>
            </a:extLst>
          </p:cNvPr>
          <p:cNvSpPr/>
          <p:nvPr/>
        </p:nvSpPr>
        <p:spPr>
          <a:xfrm>
            <a:off x="6057900" y="0"/>
            <a:ext cx="38100" cy="68580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8DB31F9-AC55-48A2-8055-49220D93C53C}"/>
              </a:ext>
            </a:extLst>
          </p:cNvPr>
          <p:cNvSpPr txBox="1"/>
          <p:nvPr/>
        </p:nvSpPr>
        <p:spPr>
          <a:xfrm>
            <a:off x="762000" y="12573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  <a:latin typeface="Segoe UI"/>
                <a:ea typeface="Segoe UI"/>
              </a:rPr>
              <a:t>HACKATHON DEMO  ·  AGENTIC CROSS-BORDER OPERATIONS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459689C-BF3D-470F-A74B-7FC994ACF808}"/>
              </a:ext>
            </a:extLst>
          </p:cNvPr>
          <p:cNvSpPr txBox="1"/>
          <p:nvPr/>
        </p:nvSpPr>
        <p:spPr>
          <a:xfrm>
            <a:off x="762000" y="1676400"/>
            <a:ext cx="4953000" cy="822960"/>
          </a:xfrm>
        </p:spPr>
        <p:txBody>
          <a:bodyPr wrap="square" rtlCol="0" lIns="0" tIns="0" rIns="0" bIns="0" anchor="t"/>
          <a:lstStyle/>
          <a:p>
            <a:pPr algn="l"/>
            <a:r>
              <a:rPr sz="5400" b="1">
                <a:solidFill>
                  <a:srgbClr val="E8EEF7"/>
                </a:solidFill>
                <a:latin typeface="Segoe UI"/>
                <a:ea typeface="Segoe UI"/>
              </a:rPr>
              <a:t>The Gate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3890412-E31B-45B9-B04C-618C8B3F062E}"/>
              </a:ext>
            </a:extLst>
          </p:cNvPr>
          <p:cNvSpPr txBox="1"/>
          <p:nvPr/>
        </p:nvSpPr>
        <p:spPr>
          <a:xfrm>
            <a:off x="762000" y="2552700"/>
            <a:ext cx="49530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2200">
                <a:solidFill>
                  <a:srgbClr val="F5A623"/>
                </a:solidFill>
                <a:latin typeface="Segoe UI"/>
                <a:ea typeface="Segoe UI"/>
              </a:rPr>
              <a:t>Never let an LLM decide what is legal.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EFE0B05-BAF1-443F-89AB-879824675771}"/>
              </a:ext>
            </a:extLst>
          </p:cNvPr>
          <p:cNvSpPr txBox="1"/>
          <p:nvPr/>
        </p:nvSpPr>
        <p:spPr>
          <a:xfrm>
            <a:off x="762000" y="3543300"/>
            <a:ext cx="4953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93A4BF"/>
                </a:solidFill>
                <a:latin typeface="Segoe UI"/>
                <a:ea typeface="Segoe UI"/>
              </a:rPr>
              <a:t>A deterministic compliance engine: OPA and Rego rule tables turn the facts an AI agent extracts into verdicts a regulator can be argued with - recorded, replayable and tamper-evident.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0BD73B9-7610-46A6-9781-04FCFFEB0473}"/>
              </a:ext>
            </a:extLst>
          </p:cNvPr>
          <p:cNvSpPr txBox="1"/>
          <p:nvPr/>
        </p:nvSpPr>
        <p:spPr>
          <a:xfrm>
            <a:off x="762000" y="5715000"/>
            <a:ext cx="4953000" cy="76403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</a:rPr>
              <a:t>Pillar 1  ·  Deterministic + LLM hybrid guardrails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Pillar 2  ·  Sovereign cross-region ingestion      Pillar 3  ·  Autonomous pricing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7F223FA-FEF2-4ED2-BB21-892000A29A93}"/>
              </a:ext>
            </a:extLst>
          </p:cNvPr>
          <p:cNvSpPr txBox="1"/>
          <p:nvPr/>
        </p:nvSpPr>
        <p:spPr>
          <a:xfrm>
            <a:off x="762000" y="5334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EEF7"/>
                </a:solidFill>
                <a:latin typeface="Segoe UI"/>
                <a:ea typeface="Segoe UI"/>
              </a:rPr>
              <a:t>What breaks at scale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19465FE-0FC1-405A-8FC5-56D87B85C0A1}"/>
              </a:ext>
            </a:extLst>
          </p:cNvPr>
          <p:cNvSpPr txBox="1"/>
          <p:nvPr/>
        </p:nvSpPr>
        <p:spPr>
          <a:xfrm>
            <a:off x="762000" y="1104900"/>
            <a:ext cx="1066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93A4BF"/>
                </a:solidFill>
                <a:latin typeface="Segoe UI"/>
                <a:ea typeface="Segoe UI"/>
              </a:rPr>
              <a:t>Every agent in this ecosystem will eventually be told no by a regulator.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3C42C76-9268-4F94-B9AF-1395A2585BB8}"/>
              </a:ext>
            </a:extLst>
          </p:cNvPr>
          <p:cNvSpPr/>
          <p:nvPr/>
        </p:nvSpPr>
        <p:spPr>
          <a:xfrm>
            <a:off x="762000" y="1638300"/>
            <a:ext cx="5143500" cy="32385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22F279F-7E78-4312-870B-338DA1CA257F}"/>
              </a:ext>
            </a:extLst>
          </p:cNvPr>
          <p:cNvSpPr/>
          <p:nvPr/>
        </p:nvSpPr>
        <p:spPr>
          <a:xfrm>
            <a:off x="6286500" y="1638300"/>
            <a:ext cx="5143500" cy="32385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59209A0-A19A-47C1-8DBD-A97F55BEDFA4}"/>
              </a:ext>
            </a:extLst>
          </p:cNvPr>
          <p:cNvSpPr txBox="1"/>
          <p:nvPr/>
        </p:nvSpPr>
        <p:spPr>
          <a:xfrm>
            <a:off x="1028700" y="1943100"/>
            <a:ext cx="4610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  <a:ea typeface="Segoe UI"/>
              </a:rPr>
              <a:t>WHAT THE AGENTS ARE FOR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7B6B1A1-F2C9-4F63-A9D3-EB2630B46218}"/>
              </a:ext>
            </a:extLst>
          </p:cNvPr>
          <p:cNvSpPr txBox="1"/>
          <p:nvPr/>
        </p:nvSpPr>
        <p:spPr>
          <a:xfrm>
            <a:off x="1028700" y="2362200"/>
            <a:ext cx="4610100" cy="2190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Read contracts, invoices and spec sheets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Join customer data across regions for analytics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Browse competitor pages and reprice locally</a:t>
            </a:r>
          </a:p>
          <a:p>
            <a:pPr algn="l">
              <a:lnSpc>
                <a:spcPct val="150000"/>
              </a:lnSpc>
            </a:pPr>
            <a:r>
              <a:rPr sz="1400" b="1" i="1">
                <a:solidFill>
                  <a:srgbClr val="93A4BF"/>
                </a:solidFill>
                <a:latin typeface="Segoe UI"/>
                <a:ea typeface="Segoe UI"/>
              </a:rPr>
              <a:t>Speed is the entire pitch.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47C59B2-21E4-4A2D-BD8D-B6EC328B5F0A}"/>
              </a:ext>
            </a:extLst>
          </p:cNvPr>
          <p:cNvSpPr txBox="1"/>
          <p:nvPr/>
        </p:nvSpPr>
        <p:spPr>
          <a:xfrm>
            <a:off x="6553200" y="1943100"/>
            <a:ext cx="4610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Segoe UI"/>
                <a:ea typeface="Segoe UI"/>
              </a:rPr>
              <a:t>WHAT THE AUDITOR ASKS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F576E98-23C4-4DC4-8587-B2552C26E805}"/>
              </a:ext>
            </a:extLst>
          </p:cNvPr>
          <p:cNvSpPr txBox="1"/>
          <p:nvPr/>
        </p:nvSpPr>
        <p:spPr>
          <a:xfrm>
            <a:off x="6553200" y="2362200"/>
            <a:ext cx="4610100" cy="2190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Why did a controlled item ship to that destination?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Why did patient data land in another jurisdiction?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Who decided, on what rule, with what evidence?</a:t>
            </a:r>
          </a:p>
          <a:p>
            <a:pPr algn="l">
              <a:lnSpc>
                <a:spcPct val="150000"/>
              </a:lnSpc>
            </a:pPr>
            <a:r>
              <a:rPr sz="1400" b="1" i="1">
                <a:solidFill>
                  <a:srgbClr val="93A4BF"/>
                </a:solidFill>
                <a:latin typeface="Segoe UI"/>
                <a:ea typeface="Segoe UI"/>
              </a:rPr>
              <a:t>The answer cannot be the model's confidence.</a:t>
            </a:r>
          </a:p>
        </p:txBody>
      </p: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5AF7BA64-BE56-40DD-A16C-0ED82E2B5C0C}"/>
              </a:ext>
            </a:extLst>
          </p:cNvPr>
          <p:cNvCxnSpPr/>
          <p:nvPr/>
        </p:nvCxnSpPr>
        <p:spPr>
          <a:xfrm>
            <a:off x="762000" y="5257800"/>
            <a:ext cx="10668000" cy="9525"/>
          </a:xfrm>
          <a:prstGeom prst="line">
            <a:avLst/>
          </a:prstGeom>
          <a:ln w="12700" cap="flat">
            <a:solidFill>
              <a:srgbClr val="22314A"/>
            </a:solidFill>
          </a:ln>
        </p:spPr>
      </p:cxnSp>
      <p:sp>
        <p:nvSpPr>
          <p:cNvPr id="12" name="TextBox 12">
            <a:extLst>
              <a:ext uri="{FF2B5EF4-FFF2-40B4-BE49-F238E27FC236}">
                <a16:creationId xmlns:a16="http://schemas.microsoft.com/office/drawing/2014/main" id="{2E50B84C-605C-4D55-B24C-CEB1CEE8FB22}"/>
              </a:ext>
            </a:extLst>
          </p:cNvPr>
          <p:cNvSpPr txBox="1"/>
          <p:nvPr/>
        </p:nvSpPr>
        <p:spPr>
          <a:xfrm>
            <a:off x="762000" y="5524500"/>
            <a:ext cx="10668000" cy="7924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E8EEF7"/>
                </a:solidFill>
                <a:latin typeface="Segoe UI"/>
                <a:ea typeface="Segoe UI"/>
              </a:rPr>
              <a:t>An agent that can be prompted can be wrong at scale. </a:t>
            </a:r>
            <a:r>
              <a:rPr sz="2000" b="1">
                <a:solidFill>
                  <a:srgbClr val="F5A623"/>
                </a:solidFill>
                <a:latin typeface="Segoe UI"/>
                <a:ea typeface="Segoe UI"/>
              </a:rPr>
              <a:t>So it never gets to stamp the paperwork.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D4FA0A5-CF1A-4AE6-B75C-724D1AC8FAFA}"/>
              </a:ext>
            </a:extLst>
          </p:cNvPr>
          <p:cNvSpPr txBox="1"/>
          <p:nvPr/>
        </p:nvSpPr>
        <p:spPr>
          <a:xfrm>
            <a:off x="762000" y="5334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EEF7"/>
                </a:solidFill>
                <a:latin typeface="Segoe UI"/>
                <a:ea typeface="Segoe UI"/>
              </a:rPr>
              <a:t>The division of labour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063E6E7-4938-40EC-A049-8700E5C492E9}"/>
              </a:ext>
            </a:extLst>
          </p:cNvPr>
          <p:cNvPicPr/>
          <p:nvPr/>
        </p:nvPicPr>
        <p:blipFill>
          <a:blip r:embed="rId2"/>
          <a:srcRect l="7447" r="7447"/>
          <a:stretch>
            <a:fillRect/>
          </a:stretch>
        </p:blipFill>
        <p:spPr>
          <a:xfrm>
            <a:off x="6667500" y="1428750"/>
            <a:ext cx="4762500" cy="447675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C464F44-718F-4526-B8B1-BA529C3CCB4F}"/>
              </a:ext>
            </a:extLst>
          </p:cNvPr>
          <p:cNvSpPr txBox="1"/>
          <p:nvPr/>
        </p:nvSpPr>
        <p:spPr>
          <a:xfrm>
            <a:off x="762000" y="1485900"/>
            <a:ext cx="5524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38BDF8"/>
                </a:solidFill>
                <a:latin typeface="Segoe UI"/>
                <a:ea typeface="Segoe UI"/>
              </a:rPr>
              <a:t>Agents produce facts.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6683A52-5AB2-4D67-A349-11833DE70C8C}"/>
              </a:ext>
            </a:extLst>
          </p:cNvPr>
          <p:cNvSpPr txBox="1"/>
          <p:nvPr/>
        </p:nvSpPr>
        <p:spPr>
          <a:xfrm>
            <a:off x="762000" y="1924050"/>
            <a:ext cx="5524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E8EEF7"/>
                </a:solidFill>
                <a:latin typeface="Segoe UI"/>
                <a:ea typeface="Segoe UI"/>
              </a:rPr>
              <a:t>Deterministic rules produce verdicts.</a:t>
            </a:r>
          </a:p>
        </p:txBody>
      </p: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C955539B-ECF4-4110-AC57-F6C3C6343B2D}"/>
              </a:ext>
            </a:extLst>
          </p:cNvPr>
          <p:cNvCxnSpPr/>
          <p:nvPr/>
        </p:nvCxnSpPr>
        <p:spPr>
          <a:xfrm>
            <a:off x="762000" y="2552700"/>
            <a:ext cx="1905000" cy="9525"/>
          </a:xfrm>
          <a:prstGeom prst="line">
            <a:avLst/>
          </a:prstGeom>
          <a:ln w="12700" cap="flat">
            <a:solidFill>
              <a:srgbClr val="22314A"/>
            </a:solidFill>
          </a:ln>
        </p:spPr>
      </p:cxnSp>
      <p:sp>
        <p:nvSpPr>
          <p:cNvPr id="8" name="TextBox 8">
            <a:extLst>
              <a:ext uri="{FF2B5EF4-FFF2-40B4-BE49-F238E27FC236}">
                <a16:creationId xmlns:a16="http://schemas.microsoft.com/office/drawing/2014/main" id="{F3407CF7-C2DF-4D1F-8F60-7002F9EA205B}"/>
              </a:ext>
            </a:extLst>
          </p:cNvPr>
          <p:cNvSpPr txBox="1"/>
          <p:nvPr/>
        </p:nvSpPr>
        <p:spPr>
          <a:xfrm>
            <a:off x="762000" y="2819400"/>
            <a:ext cx="5334000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The LLM is the intern who reads the paperwork and highlights the numbers. OPA is the customs officer who stamps it.</a:t>
            </a:r>
          </a:p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400">
                <a:solidFill>
                  <a:srgbClr val="93A4BF"/>
                </a:solidFill>
                <a:latin typeface="Segoe UI"/>
                <a:ea typeface="Segoe UI"/>
              </a:rPr>
              <a:t>Nothing in the Python boundary computes a legal outcome. Nothing in the Rego packs reads a document. Each side can only do its own job.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93A4BF"/>
                </a:solidFill>
                <a:latin typeface="Segoe UI"/>
                <a:ea typeface="Segoe UI"/>
              </a:rPr>
              <a:t>So a change in compliance posture is a policy bundle build - not a service deploy, not a retraining run, not a prompt edit.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205F6EE-1855-44C3-A88C-969C44DBF1B5}"/>
              </a:ext>
            </a:extLst>
          </p:cNvPr>
          <p:cNvSpPr txBox="1"/>
          <p:nvPr/>
        </p:nvSpPr>
        <p:spPr>
          <a:xfrm>
            <a:off x="762000" y="6096000"/>
            <a:ext cx="5334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 i="1">
                <a:solidFill>
                  <a:srgbClr val="F5A623"/>
                </a:solidFill>
                <a:latin typeface="Segoe UI"/>
                <a:ea typeface="Segoe UI"/>
              </a:rPr>
              <a:t>If a rule change ever needs a Python change, the design is broken.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B500258-7AE2-4B5C-B4BA-8023C03E98D4}"/>
              </a:ext>
            </a:extLst>
          </p:cNvPr>
          <p:cNvSpPr txBox="1"/>
          <p:nvPr/>
        </p:nvSpPr>
        <p:spPr>
          <a:xfrm>
            <a:off x="762000" y="5334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EEF7"/>
                </a:solidFill>
                <a:latin typeface="Segoe UI"/>
                <a:ea typeface="Segoe UI"/>
              </a:rPr>
              <a:t>Request path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240BD6B-E04E-425F-8583-ABC508DAF6B4}"/>
              </a:ext>
            </a:extLst>
          </p:cNvPr>
          <p:cNvSpPr txBox="1"/>
          <p:nvPr/>
        </p:nvSpPr>
        <p:spPr>
          <a:xfrm>
            <a:off x="762000" y="1104900"/>
            <a:ext cx="1066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93A4BF"/>
                </a:solidFill>
                <a:latin typeface="Segoe UI"/>
                <a:ea typeface="Segoe UI"/>
              </a:rPr>
              <a:t>A thin boundary in front of a policy engine that holds all of the legal logic.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B7C8FE6-A286-4DB2-BC0A-40453C3E5CCD}"/>
              </a:ext>
            </a:extLst>
          </p:cNvPr>
          <p:cNvSpPr/>
          <p:nvPr/>
        </p:nvSpPr>
        <p:spPr>
          <a:xfrm>
            <a:off x="762000" y="1676400"/>
            <a:ext cx="1714500" cy="12573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7CDE3FB-FEAD-40EA-B0BB-693EDD875504}"/>
              </a:ext>
            </a:extLst>
          </p:cNvPr>
          <p:cNvSpPr/>
          <p:nvPr/>
        </p:nvSpPr>
        <p:spPr>
          <a:xfrm>
            <a:off x="3000375" y="1676400"/>
            <a:ext cx="1714500" cy="12573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F9C98A3-5171-4256-ABC1-31D93BB3FE13}"/>
              </a:ext>
            </a:extLst>
          </p:cNvPr>
          <p:cNvSpPr/>
          <p:nvPr/>
        </p:nvSpPr>
        <p:spPr>
          <a:xfrm>
            <a:off x="5238750" y="1676400"/>
            <a:ext cx="1714500" cy="1257300"/>
          </a:xfrm>
          <a:prstGeom prst="roundRect">
            <a:avLst/>
          </a:prstGeom>
          <a:solidFill>
            <a:srgbClr val="0E2438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772A58D-3C51-4CCD-9BD6-4B3B0BF2DB5A}"/>
              </a:ext>
            </a:extLst>
          </p:cNvPr>
          <p:cNvSpPr/>
          <p:nvPr/>
        </p:nvSpPr>
        <p:spPr>
          <a:xfrm>
            <a:off x="7477125" y="1676400"/>
            <a:ext cx="1714500" cy="12573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EFEA2FA-4B50-4AD3-A74B-029F4CF67F6A}"/>
              </a:ext>
            </a:extLst>
          </p:cNvPr>
          <p:cNvSpPr/>
          <p:nvPr/>
        </p:nvSpPr>
        <p:spPr>
          <a:xfrm>
            <a:off x="9715500" y="1676400"/>
            <a:ext cx="1714500" cy="12573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AC6A047-B0DC-4AED-A530-2C1D3443004B}"/>
              </a:ext>
            </a:extLst>
          </p:cNvPr>
          <p:cNvSpPr/>
          <p:nvPr/>
        </p:nvSpPr>
        <p:spPr>
          <a:xfrm>
            <a:off x="2533650" y="2152650"/>
            <a:ext cx="419100" cy="285750"/>
          </a:xfrm>
          <a:prstGeom prst="rightArrow">
            <a:avLst/>
          </a:prstGeom>
          <a:solidFill>
            <a:srgbClr val="22314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023B072-13EA-40FF-9055-08DFEF8ACC3A}"/>
              </a:ext>
            </a:extLst>
          </p:cNvPr>
          <p:cNvSpPr/>
          <p:nvPr/>
        </p:nvSpPr>
        <p:spPr>
          <a:xfrm>
            <a:off x="4772025" y="2152650"/>
            <a:ext cx="419100" cy="285750"/>
          </a:xfrm>
          <a:prstGeom prst="rightArrow">
            <a:avLst/>
          </a:prstGeom>
          <a:solidFill>
            <a:srgbClr val="22314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C0380FB-BC26-4645-B5CB-D5B7272B6FC8}"/>
              </a:ext>
            </a:extLst>
          </p:cNvPr>
          <p:cNvSpPr/>
          <p:nvPr/>
        </p:nvSpPr>
        <p:spPr>
          <a:xfrm>
            <a:off x="7010400" y="2152650"/>
            <a:ext cx="419100" cy="285750"/>
          </a:xfrm>
          <a:prstGeom prst="rightArrow">
            <a:avLst/>
          </a:prstGeom>
          <a:solidFill>
            <a:srgbClr val="22314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00F4347-5B0C-4A53-A025-C85C9636D324}"/>
              </a:ext>
            </a:extLst>
          </p:cNvPr>
          <p:cNvSpPr/>
          <p:nvPr/>
        </p:nvSpPr>
        <p:spPr>
          <a:xfrm>
            <a:off x="9248775" y="2152650"/>
            <a:ext cx="419100" cy="285750"/>
          </a:xfrm>
          <a:prstGeom prst="rightArrow">
            <a:avLst/>
          </a:prstGeom>
          <a:solidFill>
            <a:srgbClr val="22314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548C486-0F5C-478B-B896-17B68CAED279}"/>
              </a:ext>
            </a:extLst>
          </p:cNvPr>
          <p:cNvSpPr txBox="1"/>
          <p:nvPr/>
        </p:nvSpPr>
        <p:spPr>
          <a:xfrm>
            <a:off x="876300" y="1866900"/>
            <a:ext cx="1485900" cy="106629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</a:rPr>
              <a:t>Agent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parses documents, proposes facts with provenance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7D88B9E-B027-4C70-8229-A647D06993A6}"/>
              </a:ext>
            </a:extLst>
          </p:cNvPr>
          <p:cNvSpPr txBox="1"/>
          <p:nvPr/>
        </p:nvSpPr>
        <p:spPr>
          <a:xfrm>
            <a:off x="3114675" y="1866900"/>
            <a:ext cx="1485900" cy="106629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</a:rPr>
              <a:t>FastAPI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validate shape · normalise units · stamp clock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FB2B322-0F86-42AA-8A33-519B2C57D587}"/>
              </a:ext>
            </a:extLst>
          </p:cNvPr>
          <p:cNvSpPr txBox="1"/>
          <p:nvPr/>
        </p:nvSpPr>
        <p:spPr>
          <a:xfrm>
            <a:off x="5353050" y="1866900"/>
            <a:ext cx="1485900" cy="106629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Segoe UI"/>
                <a:ea typeface="Segoe UI"/>
              </a:rPr>
              <a:t>OPA sidecar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Rego packs + 6 deterministic rule tables decide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79E044C-15F2-48E1-BE14-588FF0DA1B91}"/>
              </a:ext>
            </a:extLst>
          </p:cNvPr>
          <p:cNvSpPr txBox="1"/>
          <p:nvPr/>
        </p:nvSpPr>
        <p:spPr>
          <a:xfrm>
            <a:off x="7591425" y="1866900"/>
            <a:ext cx="1485900" cy="106629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</a:rPr>
              <a:t>Ledger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hash-chained, append-only, inside the request path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CEBA83F-806D-4FD6-BAEC-BD8DC9170187}"/>
              </a:ext>
            </a:extLst>
          </p:cNvPr>
          <p:cNvSpPr txBox="1"/>
          <p:nvPr/>
        </p:nvSpPr>
        <p:spPr>
          <a:xfrm>
            <a:off x="9829800" y="1866900"/>
            <a:ext cx="1485900" cy="106629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</a:rPr>
              <a:t>Review queue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derived from the ledger, closed by a named human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5D185A75-AFFA-437F-A2AB-F558FDDE1BB8}"/>
              </a:ext>
            </a:extLst>
          </p:cNvPr>
          <p:cNvSpPr/>
          <p:nvPr/>
        </p:nvSpPr>
        <p:spPr>
          <a:xfrm>
            <a:off x="5981700" y="3067050"/>
            <a:ext cx="228600" cy="190500"/>
          </a:xfrm>
          <a:prstGeom prst="up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289092D-8E8E-4EF9-82FD-470C1ED50C0C}"/>
              </a:ext>
            </a:extLst>
          </p:cNvPr>
          <p:cNvSpPr txBox="1"/>
          <p:nvPr/>
        </p:nvSpPr>
        <p:spPr>
          <a:xfrm>
            <a:off x="4381500" y="3333750"/>
            <a:ext cx="3429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  <a:ea typeface="Segoe UI"/>
              </a:rPr>
              <a:t>compiled policy bundle, hot-reloaded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9D79F457-1E98-4594-A0B0-CEDC567EA7AE}"/>
              </a:ext>
            </a:extLst>
          </p:cNvPr>
          <p:cNvSpPr/>
          <p:nvPr/>
        </p:nvSpPr>
        <p:spPr>
          <a:xfrm>
            <a:off x="762000" y="3848100"/>
            <a:ext cx="5143500" cy="17716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14E6FEA-6B71-4FD7-A477-07657854E948}"/>
              </a:ext>
            </a:extLst>
          </p:cNvPr>
          <p:cNvSpPr/>
          <p:nvPr/>
        </p:nvSpPr>
        <p:spPr>
          <a:xfrm>
            <a:off x="6286500" y="3848100"/>
            <a:ext cx="5143500" cy="17716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1B214D6-C81A-456E-913B-38A27D886687}"/>
              </a:ext>
            </a:extLst>
          </p:cNvPr>
          <p:cNvSpPr txBox="1"/>
          <p:nvPr/>
        </p:nvSpPr>
        <p:spPr>
          <a:xfrm>
            <a:off x="1028700" y="4114800"/>
            <a:ext cx="4610100" cy="129362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E8EEF7"/>
                </a:solidFill>
                <a:latin typeface="Segoe UI"/>
                <a:ea typeface="Segoe UI"/>
              </a:rPr>
              <a:t>Policy ships independently of service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93A4BF"/>
                </a:solidFill>
                <a:latin typeface="Segoe UI"/>
                <a:ea typeface="Segoe UI"/>
              </a:rPr>
              <a:t>Rebuild the bundle and the running sidecar picks it up on its poll interval - no restart, no engine deploy. Disk mode reloads per request while rules are being authored.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A8F3829-02DB-40D7-A0EA-D4B34CDD4BBB}"/>
              </a:ext>
            </a:extLst>
          </p:cNvPr>
          <p:cNvSpPr txBox="1"/>
          <p:nvPr/>
        </p:nvSpPr>
        <p:spPr>
          <a:xfrm>
            <a:off x="6553200" y="4114800"/>
            <a:ext cx="4610100" cy="129362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Segoe UI"/>
                <a:ea typeface="Segoe UI"/>
              </a:rPr>
              <a:t>A missing verdict is a fault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93A4BF"/>
                </a:solidFill>
                <a:latin typeface="Segoe UI"/>
                <a:ea typeface="Segoe UI"/>
              </a:rPr>
              <a:t>Sidecar unreachable returns 503, a policy error 502, and a rule that produced no value 500. Silence is never read as permission.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A3023D-F4EC-4723-BE6E-98225F989924}"/>
              </a:ext>
            </a:extLst>
          </p:cNvPr>
          <p:cNvSpPr txBox="1"/>
          <p:nvPr/>
        </p:nvSpPr>
        <p:spPr>
          <a:xfrm>
            <a:off x="762000" y="5924550"/>
            <a:ext cx="106680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EEF7"/>
                </a:solidFill>
                <a:latin typeface="Segoe UI"/>
                <a:ea typeface="Segoe UI"/>
              </a:rPr>
              <a:t>One HTTP call per decision.  Zero LLM calls on the decision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96C44BA-F14C-4C6D-A404-A3BADECC6D7E}"/>
              </a:ext>
            </a:extLst>
          </p:cNvPr>
          <p:cNvSpPr txBox="1"/>
          <p:nvPr/>
        </p:nvSpPr>
        <p:spPr>
          <a:xfrm>
            <a:off x="762000" y="5334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EEF7"/>
                </a:solidFill>
                <a:latin typeface="Segoe UI"/>
                <a:ea typeface="Segoe UI"/>
              </a:rPr>
              <a:t>Guardrail 1  ·  Evidence asymmetry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E25AF8F-3E2D-479A-B09B-2816D7875EE9}"/>
              </a:ext>
            </a:extLst>
          </p:cNvPr>
          <p:cNvSpPr txBox="1"/>
          <p:nvPr/>
        </p:nvSpPr>
        <p:spPr>
          <a:xfrm>
            <a:off x="762000" y="1104900"/>
            <a:ext cx="1066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93A4BF"/>
                </a:solidFill>
                <a:latin typeface="Segoe UI"/>
                <a:ea typeface="Segoe UI"/>
              </a:rPr>
              <a:t>Every fact carries a source, and the source decides how much weight that fact may carry.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11AA074-FBEA-45F7-9DC7-F92A670663CE}"/>
              </a:ext>
            </a:extLst>
          </p:cNvPr>
          <p:cNvSpPr/>
          <p:nvPr/>
        </p:nvSpPr>
        <p:spPr>
          <a:xfrm>
            <a:off x="762000" y="1638300"/>
            <a:ext cx="5143500" cy="26289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CFA9046-6433-4BB0-818C-5A166FC29E6B}"/>
              </a:ext>
            </a:extLst>
          </p:cNvPr>
          <p:cNvSpPr/>
          <p:nvPr/>
        </p:nvSpPr>
        <p:spPr>
          <a:xfrm>
            <a:off x="6286500" y="1638300"/>
            <a:ext cx="5143500" cy="26289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1BF3F9E-FA8A-44FA-ACCD-14827F20C682}"/>
              </a:ext>
            </a:extLst>
          </p:cNvPr>
          <p:cNvSpPr txBox="1"/>
          <p:nvPr/>
        </p:nvSpPr>
        <p:spPr>
          <a:xfrm>
            <a:off x="1028700" y="1905000"/>
            <a:ext cx="46101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  <a:ea typeface="Segoe UI"/>
              </a:rPr>
              <a:t>AUTHORITATIVE  ·  CAN CLEAR A CONTROL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93A5347-CF65-4BB4-8C66-FCCFB9B9DCD0}"/>
              </a:ext>
            </a:extLst>
          </p:cNvPr>
          <p:cNvSpPr txBox="1"/>
          <p:nvPr/>
        </p:nvSpPr>
        <p:spPr>
          <a:xfrm>
            <a:off x="1028700" y="2266950"/>
            <a:ext cx="4610100" cy="208356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>
                <a:solidFill>
                  <a:srgbClr val="E8EEF7"/>
                </a:solidFill>
                <a:latin typeface="Consolas"/>
                <a:ea typeface="Consolas"/>
              </a:rPr>
              <a:t>CERTIFICATE          SIGNED_SPEC_SHEET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>
                <a:solidFill>
                  <a:srgbClr val="E8EEF7"/>
                </a:solidFill>
                <a:latin typeface="Consolas"/>
                <a:ea typeface="Consolas"/>
              </a:rPr>
              <a:t>DECLARATION          REGULATOR_RULING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300">
                <a:solidFill>
                  <a:srgbClr val="E8EEF7"/>
                </a:solidFill>
                <a:latin typeface="Consolas"/>
                <a:ea typeface="Consolas"/>
              </a:rPr>
              <a:t>ERP_MASTER_DATA  ·  MANUAL_VERIFICATION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93A4BF"/>
                </a:solidFill>
                <a:latin typeface="Segoe UI"/>
                <a:ea typeface="Segoe UI"/>
              </a:rPr>
              <a:t>Signed, filed or verified by a person who owns the statement - and each one carries an evidence ref that a reviewer can go and look at.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8BAE23-4A60-42C9-BE33-FFE357A74C05}"/>
              </a:ext>
            </a:extLst>
          </p:cNvPr>
          <p:cNvSpPr txBox="1"/>
          <p:nvPr/>
        </p:nvSpPr>
        <p:spPr>
          <a:xfrm>
            <a:off x="6553200" y="1905000"/>
            <a:ext cx="46101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Segoe UI"/>
                <a:ea typeface="Segoe UI"/>
              </a:rPr>
              <a:t>MACHINE-EXTRACTED  ·  CAN ONLY RAISE RISK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BA75943-6ADB-4550-A5C1-9ACF2A0F258F}"/>
              </a:ext>
            </a:extLst>
          </p:cNvPr>
          <p:cNvSpPr txBox="1"/>
          <p:nvPr/>
        </p:nvSpPr>
        <p:spPr>
          <a:xfrm>
            <a:off x="6553200" y="2266950"/>
            <a:ext cx="4610100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>
                <a:solidFill>
                  <a:srgbClr val="E8EEF7"/>
                </a:solidFill>
                <a:latin typeface="Consolas"/>
                <a:ea typeface="Consolas"/>
              </a:rPr>
              <a:t>GEMINI_EXTRACTION    LLM_EXTRACTION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>
                <a:solidFill>
                  <a:srgbClr val="E8EEF7"/>
                </a:solidFill>
                <a:latin typeface="Consolas"/>
                <a:ea typeface="Consolas"/>
              </a:rPr>
              <a:t>MODEL_EXTRACTED      RULE_BASED_PARSER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300">
                <a:solidFill>
                  <a:srgbClr val="93A4BF"/>
                </a:solidFill>
                <a:latin typeface="Segoe UI"/>
                <a:ea typeface="Segoe UI"/>
              </a:rPr>
              <a:t>Extraction is welcome - it is how a 40-page spec sheet gets read.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</a:rPr>
              <a:t>It may add risk without limit and retire none of it.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5931006-A400-455C-BA69-9AA8820AA0D5}"/>
              </a:ext>
            </a:extLst>
          </p:cNvPr>
          <p:cNvSpPr/>
          <p:nvPr/>
        </p:nvSpPr>
        <p:spPr>
          <a:xfrm>
            <a:off x="762000" y="4533900"/>
            <a:ext cx="10668000" cy="1714500"/>
          </a:xfrm>
          <a:prstGeom prst="roundRect">
            <a:avLst/>
          </a:prstGeom>
          <a:solidFill>
            <a:srgbClr val="0E2438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A570BAE-E3D9-4314-BA65-880C44EE974F}"/>
              </a:ext>
            </a:extLst>
          </p:cNvPr>
          <p:cNvSpPr txBox="1"/>
          <p:nvPr/>
        </p:nvSpPr>
        <p:spPr>
          <a:xfrm>
            <a:off x="1028700" y="4762500"/>
            <a:ext cx="10134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8EEF7"/>
                </a:solidFill>
                <a:latin typeface="Segoe UI"/>
                <a:ea typeface="Segoe UI"/>
              </a:rPr>
              <a:t>The same encryption product, the same numbers, two provenances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46BFB4F-6AE9-4500-A2AD-25BDACE7A99A}"/>
              </a:ext>
            </a:extLst>
          </p:cNvPr>
          <p:cNvSpPr/>
          <p:nvPr/>
        </p:nvSpPr>
        <p:spPr>
          <a:xfrm>
            <a:off x="1028700" y="5162550"/>
            <a:ext cx="4762500" cy="4572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38BDF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Consolas"/>
                <a:ea typeface="Consolas"/>
              </a:rPr>
              <a:t>MANUAL_VERIFICATION   →   ALLOW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946621D-8FE2-4529-95F1-6206CF294C0C}"/>
              </a:ext>
            </a:extLst>
          </p:cNvPr>
          <p:cNvSpPr/>
          <p:nvPr/>
        </p:nvSpPr>
        <p:spPr>
          <a:xfrm>
            <a:off x="6400800" y="5162550"/>
            <a:ext cx="4762500" cy="4572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5A623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5A623"/>
                </a:solidFill>
                <a:latin typeface="Consolas"/>
                <a:ea typeface="Consolas"/>
              </a:rPr>
              <a:t>GEMINI_EXTRACTION   →   HUMAN_REVIEW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2DA347F-7BB4-4507-BEA7-9C91938EF0DF}"/>
              </a:ext>
            </a:extLst>
          </p:cNvPr>
          <p:cNvSpPr txBox="1"/>
          <p:nvPr/>
        </p:nvSpPr>
        <p:spPr>
          <a:xfrm>
            <a:off x="1028700" y="5772150"/>
            <a:ext cx="10134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3A4BF"/>
                </a:solidFill>
                <a:latin typeface="Consolas"/>
                <a:ea typeface="Consolas"/>
              </a:rPr>
              <a:t>Proven in CI: test_extraction_can_never_retire_a_control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323AEF6-E249-432F-8DE8-69E10E40BD6C}"/>
              </a:ext>
            </a:extLst>
          </p:cNvPr>
          <p:cNvSpPr txBox="1"/>
          <p:nvPr/>
        </p:nvSpPr>
        <p:spPr>
          <a:xfrm>
            <a:off x="762000" y="5334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EEF7"/>
                </a:solidFill>
                <a:latin typeface="Segoe UI"/>
                <a:ea typeface="Segoe UI"/>
              </a:rPr>
              <a:t>Guardrail 2  ·  The authority ceiling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FB6278-1E5D-4288-9454-373CB92F1F96}"/>
              </a:ext>
            </a:extLst>
          </p:cNvPr>
          <p:cNvSpPr txBox="1"/>
          <p:nvPr/>
        </p:nvSpPr>
        <p:spPr>
          <a:xfrm>
            <a:off x="762000" y="1600200"/>
            <a:ext cx="10668000" cy="883920"/>
          </a:xfrm>
        </p:spPr>
        <p:txBody>
          <a:bodyPr wrap="square" rtlCol="0" lIns="0" tIns="0" rIns="0" bIns="0" anchor="t"/>
          <a:lstStyle/>
          <a:p>
            <a:pPr algn="l"/>
            <a:r>
              <a:rPr sz="5800" b="1">
                <a:solidFill>
                  <a:srgbClr val="38BDF8"/>
                </a:solidFill>
                <a:latin typeface="Consolas"/>
                <a:ea typeface="Consolas"/>
              </a:rPr>
              <a:t>ILLUSTRATIVE_*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66F8E92-4041-4905-AB1C-07446527116F}"/>
              </a:ext>
            </a:extLst>
          </p:cNvPr>
          <p:cNvSpPr txBox="1"/>
          <p:nvPr/>
        </p:nvSpPr>
        <p:spPr>
          <a:xfrm>
            <a:off x="762000" y="2457450"/>
            <a:ext cx="9525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93A4BF"/>
                </a:solidFill>
                <a:latin typeface="Segoe UI"/>
                <a:ea typeface="Segoe UI"/>
              </a:rPr>
              <a:t>is a value inside the rule table itself - not a comment, not a flag in code.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D09F28A5-3B51-4601-B8E0-0A04B784426C}"/>
              </a:ext>
            </a:extLst>
          </p:cNvPr>
          <p:cNvCxnSpPr/>
          <p:nvPr/>
        </p:nvCxnSpPr>
        <p:spPr>
          <a:xfrm>
            <a:off x="762000" y="2971800"/>
            <a:ext cx="10668000" cy="9525"/>
          </a:xfrm>
          <a:prstGeom prst="line">
            <a:avLst/>
          </a:prstGeom>
          <a:ln w="12700" cap="flat">
            <a:solidFill>
              <a:srgbClr val="22314A"/>
            </a:solidFill>
          </a:ln>
        </p:spPr>
      </p:cxnSp>
      <p:sp>
        <p:nvSpPr>
          <p:cNvPr id="7" name="Shape 7">
            <a:extLst>
              <a:ext uri="{FF2B5EF4-FFF2-40B4-BE49-F238E27FC236}">
                <a16:creationId xmlns:a16="http://schemas.microsoft.com/office/drawing/2014/main" id="{A3EA21CC-434F-484E-A7EB-AF35E42D34B2}"/>
              </a:ext>
            </a:extLst>
          </p:cNvPr>
          <p:cNvSpPr/>
          <p:nvPr/>
        </p:nvSpPr>
        <p:spPr>
          <a:xfrm>
            <a:off x="762000" y="3276600"/>
            <a:ext cx="5143500" cy="21526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D131654-BE71-470B-B8FD-079F930C2BC6}"/>
              </a:ext>
            </a:extLst>
          </p:cNvPr>
          <p:cNvSpPr/>
          <p:nvPr/>
        </p:nvSpPr>
        <p:spPr>
          <a:xfrm>
            <a:off x="6286500" y="3276600"/>
            <a:ext cx="5143500" cy="21526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983FBE8-5828-4772-A933-6D7F51A93255}"/>
              </a:ext>
            </a:extLst>
          </p:cNvPr>
          <p:cNvSpPr txBox="1"/>
          <p:nvPr/>
        </p:nvSpPr>
        <p:spPr>
          <a:xfrm>
            <a:off x="1028700" y="3543300"/>
            <a:ext cx="4610100" cy="180721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 b="1">
                <a:solidFill>
                  <a:srgbClr val="38BDF8"/>
                </a:solidFill>
                <a:latin typeface="Segoe UI"/>
                <a:ea typeface="Segoe UI"/>
              </a:rPr>
              <a:t>THE RULE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An unverified table may escalate a job. It can never grant a terminal ALLOW.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93A4BF"/>
                </a:solidFill>
                <a:latin typeface="Segoe UI"/>
                <a:ea typeface="Segoe UI"/>
              </a:rPr>
              <a:t>The cap is applied after the rules run, so a permissive answer from a placeholder table is tightened rather than trusted.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0624690-B57E-482A-803E-AAB8E61CD314}"/>
              </a:ext>
            </a:extLst>
          </p:cNvPr>
          <p:cNvSpPr txBox="1"/>
          <p:nvPr/>
        </p:nvSpPr>
        <p:spPr>
          <a:xfrm>
            <a:off x="6553200" y="3543300"/>
            <a:ext cx="4610100" cy="176149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 b="1">
                <a:solidFill>
                  <a:srgbClr val="F5A623"/>
                </a:solidFill>
                <a:latin typeface="Segoe UI"/>
                <a:ea typeface="Segoe UI"/>
              </a:rPr>
              <a:t>THE SIGNAL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1">
                <a:solidFill>
                  <a:srgbClr val="E8EEF7"/>
                </a:solidFill>
                <a:latin typeface="Consolas"/>
                <a:ea typeface="Consolas"/>
              </a:rPr>
              <a:t>authority_ceiling_applied: true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93A4BF"/>
                </a:solidFill>
                <a:latin typeface="Segoe UI"/>
                <a:ea typeface="Segoe UI"/>
              </a:rPr>
              <a:t>is returned on the verdict, and GET /v1/policies/version lists every unverified table - five of six today - with its effective date and review cadence.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81CD871-514E-4537-A4E1-A0D13B17DBF8}"/>
              </a:ext>
            </a:extLst>
          </p:cNvPr>
          <p:cNvSpPr txBox="1"/>
          <p:nvPr/>
        </p:nvSpPr>
        <p:spPr>
          <a:xfrm>
            <a:off x="762000" y="5772150"/>
            <a:ext cx="10668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E8EEF7"/>
                </a:solidFill>
                <a:latin typeface="Segoe UI"/>
                <a:ea typeface="Segoe UI"/>
              </a:rPr>
              <a:t>This is the honest answer to "is this real law?"  </a:t>
            </a:r>
            <a:r>
              <a:rPr sz="1700" b="1">
                <a:solidFill>
                  <a:srgbClr val="F5A623"/>
                </a:solidFill>
                <a:latin typeface="Segoe UI"/>
                <a:ea typeface="Segoe UI"/>
              </a:rPr>
              <a:t>No - and the engine will not let anyone use it as if it were.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901DE5A-1F4D-4C21-BA67-97030C3A95EC}"/>
              </a:ext>
            </a:extLst>
          </p:cNvPr>
          <p:cNvSpPr txBox="1"/>
          <p:nvPr/>
        </p:nvSpPr>
        <p:spPr>
          <a:xfrm>
            <a:off x="857250" y="4953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EEF7"/>
                </a:solidFill>
                <a:latin typeface="Segoe UI"/>
                <a:ea typeface="Segoe UI"/>
              </a:rPr>
              <a:t>Guardrail 3 · Replayable verdicts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EB76C36-063A-41F3-8A0E-DF9148C5C092}"/>
              </a:ext>
            </a:extLst>
          </p:cNvPr>
          <p:cNvSpPr txBox="1"/>
          <p:nvPr/>
        </p:nvSpPr>
        <p:spPr>
          <a:xfrm>
            <a:off x="857250" y="1066800"/>
            <a:ext cx="9525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i="1">
                <a:solidFill>
                  <a:srgbClr val="93A4BF"/>
                </a:solidFill>
                <a:latin typeface="Segoe UI"/>
                <a:ea typeface="Segoe UI"/>
              </a:rPr>
              <a:t>The same input must give the same answer in October as it gave in March.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5A671A7-0DFE-4428-A255-45635CEF410D}"/>
              </a:ext>
            </a:extLst>
          </p:cNvPr>
          <p:cNvSpPr/>
          <p:nvPr/>
        </p:nvSpPr>
        <p:spPr>
          <a:xfrm>
            <a:off x="857250" y="1924050"/>
            <a:ext cx="10477500" cy="19050"/>
          </a:xfrm>
          <a:prstGeom prst="rect">
            <a:avLst/>
          </a:prstGeom>
          <a:solidFill>
            <a:srgbClr val="22314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46B540D-501C-4964-9E47-88C12268EE65}"/>
              </a:ext>
            </a:extLst>
          </p:cNvPr>
          <p:cNvSpPr/>
          <p:nvPr/>
        </p:nvSpPr>
        <p:spPr>
          <a:xfrm>
            <a:off x="1885950" y="1724025"/>
            <a:ext cx="419100" cy="419100"/>
          </a:xfrm>
          <a:prstGeom prst="ellipse">
            <a:avLst/>
          </a:prstGeom>
          <a:solidFill>
            <a:srgbClr val="0E2438"/>
          </a:solidFill>
          <a:ln w="19050">
            <a:solidFill>
              <a:srgbClr val="38BDF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900" b="1">
                <a:solidFill>
                  <a:srgbClr val="38BDF8"/>
                </a:solidFill>
                <a:latin typeface="Segoe UI"/>
                <a:ea typeface="Segoe UI"/>
              </a:rPr>
              <a:t>1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1143935-2F1F-44CA-B1BA-761D0BBDB320}"/>
              </a:ext>
            </a:extLst>
          </p:cNvPr>
          <p:cNvSpPr/>
          <p:nvPr/>
        </p:nvSpPr>
        <p:spPr>
          <a:xfrm>
            <a:off x="4552950" y="1724025"/>
            <a:ext cx="419100" cy="419100"/>
          </a:xfrm>
          <a:prstGeom prst="ellipse">
            <a:avLst/>
          </a:prstGeom>
          <a:solidFill>
            <a:srgbClr val="0E2438"/>
          </a:solidFill>
          <a:ln w="19050">
            <a:solidFill>
              <a:srgbClr val="38BDF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900" b="1">
                <a:solidFill>
                  <a:srgbClr val="38BDF8"/>
                </a:solidFill>
                <a:latin typeface="Segoe UI"/>
                <a:ea typeface="Segoe UI"/>
              </a:rPr>
              <a:t>2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E57BE9B-04B7-460E-98F4-FE602BD17AF4}"/>
              </a:ext>
            </a:extLst>
          </p:cNvPr>
          <p:cNvSpPr/>
          <p:nvPr/>
        </p:nvSpPr>
        <p:spPr>
          <a:xfrm>
            <a:off x="7219950" y="1724025"/>
            <a:ext cx="419100" cy="419100"/>
          </a:xfrm>
          <a:prstGeom prst="ellipse">
            <a:avLst/>
          </a:prstGeom>
          <a:solidFill>
            <a:srgbClr val="0E2438"/>
          </a:solidFill>
          <a:ln w="19050">
            <a:solidFill>
              <a:srgbClr val="38BDF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900" b="1">
                <a:solidFill>
                  <a:srgbClr val="38BDF8"/>
                </a:solidFill>
                <a:latin typeface="Segoe UI"/>
                <a:ea typeface="Segoe UI"/>
              </a:rPr>
              <a:t>3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63DE550-2178-41E7-9B27-F47942574D13}"/>
              </a:ext>
            </a:extLst>
          </p:cNvPr>
          <p:cNvSpPr/>
          <p:nvPr/>
        </p:nvSpPr>
        <p:spPr>
          <a:xfrm>
            <a:off x="9886950" y="1724025"/>
            <a:ext cx="419100" cy="419100"/>
          </a:xfrm>
          <a:prstGeom prst="ellipse">
            <a:avLst/>
          </a:prstGeom>
          <a:solidFill>
            <a:srgbClr val="0E2438"/>
          </a:solidFill>
          <a:ln w="19050">
            <a:solidFill>
              <a:srgbClr val="38BDF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900" b="1">
                <a:solidFill>
                  <a:srgbClr val="38BDF8"/>
                </a:solidFill>
                <a:latin typeface="Segoe UI"/>
                <a:ea typeface="Segoe UI"/>
              </a:rPr>
              <a:t>4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0257A99-8338-42DE-8BDE-228CC1B72F06}"/>
              </a:ext>
            </a:extLst>
          </p:cNvPr>
          <p:cNvSpPr txBox="1"/>
          <p:nvPr/>
        </p:nvSpPr>
        <p:spPr>
          <a:xfrm>
            <a:off x="857250" y="2381250"/>
            <a:ext cx="24765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8EEF7"/>
                </a:solidFill>
                <a:latin typeface="Segoe UI"/>
                <a:ea typeface="Segoe UI"/>
              </a:rPr>
              <a:t>Clock from the request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EE912AD-6896-4804-ABD3-37F4924173E8}"/>
              </a:ext>
            </a:extLst>
          </p:cNvPr>
          <p:cNvSpPr txBox="1"/>
          <p:nvPr/>
        </p:nvSpPr>
        <p:spPr>
          <a:xfrm>
            <a:off x="857250" y="2819400"/>
            <a:ext cx="2476500" cy="161848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93A4BF"/>
                </a:solidFill>
                <a:latin typeface="Segoe UI"/>
                <a:ea typeface="Segoe UI"/>
              </a:rPr>
              <a:t>Rules read </a:t>
            </a:r>
            <a:r>
              <a:rPr>
                <a:latin typeface="Consolas"/>
                <a:ea typeface="Consolas"/>
              </a:rPr>
              <a:t>as_of</a:t>
            </a:r>
            <a:r>
              <a:rPr/>
              <a:t> from the input, never wall time, so a verdict is not a function of when the server woke up.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3F085F6-508C-4F03-AF4C-1161BBDE72A3}"/>
              </a:ext>
            </a:extLst>
          </p:cNvPr>
          <p:cNvSpPr txBox="1"/>
          <p:nvPr/>
        </p:nvSpPr>
        <p:spPr>
          <a:xfrm>
            <a:off x="3524250" y="2381250"/>
            <a:ext cx="24765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8EEF7"/>
                </a:solidFill>
                <a:latin typeface="Segoe UI"/>
                <a:ea typeface="Segoe UI"/>
              </a:rPr>
              <a:t>CI lint blocks the build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837B8F9-7E24-4ED3-8086-57C3F6EAEE46}"/>
              </a:ext>
            </a:extLst>
          </p:cNvPr>
          <p:cNvSpPr txBox="1"/>
          <p:nvPr/>
        </p:nvSpPr>
        <p:spPr>
          <a:xfrm>
            <a:off x="3524250" y="2819400"/>
            <a:ext cx="2476500" cy="185227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93A4BF"/>
                </a:solidFill>
                <a:latin typeface="Segoe UI"/>
                <a:ea typeface="Segoe UI"/>
              </a:rPr>
              <a:t>Rego that reaches for </a:t>
            </a:r>
            <a:r>
              <a:rPr>
                <a:latin typeface="Consolas"/>
                <a:ea typeface="Consolas"/>
              </a:rPr>
              <a:t>time.now_ns</a:t>
            </a:r>
            <a:r>
              <a:rPr/>
              <a:t>, </a:t>
            </a:r>
            <a:r>
              <a:rPr>
                <a:latin typeface="Consolas"/>
                <a:ea typeface="Consolas"/>
              </a:rPr>
              <a:t>http.send</a:t>
            </a:r>
            <a:r>
              <a:rPr/>
              <a:t>, </a:t>
            </a:r>
            <a:r>
              <a:rPr>
                <a:latin typeface="Consolas"/>
                <a:ea typeface="Consolas"/>
              </a:rPr>
              <a:t>print</a:t>
            </a:r>
            <a:r>
              <a:rPr/>
              <a:t> or </a:t>
            </a:r>
            <a:r>
              <a:rPr>
                <a:latin typeface="Consolas"/>
                <a:ea typeface="Consolas"/>
              </a:rPr>
              <a:t>env.</a:t>
            </a:r>
            <a:r>
              <a:rPr/>
              <a:t> fails </a:t>
            </a:r>
            <a:r>
              <a:rPr>
                <a:latin typeface="Consolas"/>
                <a:ea typeface="Consolas"/>
              </a:rPr>
              <a:t>policy_test.sh</a:t>
            </a:r>
            <a:r>
              <a:rPr/>
              <a:t> before merge.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4FAA54C-CCC0-46DE-BE92-AF76EAAB4790}"/>
              </a:ext>
            </a:extLst>
          </p:cNvPr>
          <p:cNvSpPr txBox="1"/>
          <p:nvPr/>
        </p:nvSpPr>
        <p:spPr>
          <a:xfrm>
            <a:off x="6191250" y="2381250"/>
            <a:ext cx="24765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8EEF7"/>
                </a:solidFill>
                <a:latin typeface="Segoe UI"/>
                <a:ea typeface="Segoe UI"/>
              </a:rPr>
              <a:t>Revision travels with it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AA5A11B-EA0C-4C8C-98A5-228D03316290}"/>
              </a:ext>
            </a:extLst>
          </p:cNvPr>
          <p:cNvSpPr txBox="1"/>
          <p:nvPr/>
        </p:nvSpPr>
        <p:spPr>
          <a:xfrm>
            <a:off x="6191250" y="2819400"/>
            <a:ext cx="24765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93A4BF"/>
                </a:solidFill>
                <a:latin typeface="Segoe UI"/>
                <a:ea typeface="Segoe UI"/>
              </a:rPr>
              <a:t>Each ledger record stores the exact request plus the policy artifact revision that answered it - not "the current rules".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FF03BEE-FA9E-45A9-9E43-DAAF92899DF3}"/>
              </a:ext>
            </a:extLst>
          </p:cNvPr>
          <p:cNvSpPr txBox="1"/>
          <p:nvPr/>
        </p:nvSpPr>
        <p:spPr>
          <a:xfrm>
            <a:off x="8858250" y="2381250"/>
            <a:ext cx="24765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8EEF7"/>
                </a:solidFill>
                <a:latin typeface="Segoe UI"/>
                <a:ea typeface="Segoe UI"/>
              </a:rPr>
              <a:t>Auditor re-posts it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BED41D2-427A-4897-AE1B-88054955A29C}"/>
              </a:ext>
            </a:extLst>
          </p:cNvPr>
          <p:cNvSpPr txBox="1"/>
          <p:nvPr/>
        </p:nvSpPr>
        <p:spPr>
          <a:xfrm>
            <a:off x="8858250" y="2819400"/>
            <a:ext cx="24765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93A4BF"/>
                </a:solidFill>
                <a:latin typeface="Segoe UI"/>
                <a:ea typeface="Segoe UI"/>
              </a:rPr>
              <a:t>Replay the stored input against that bundle and diff the answers. Any drift is a build problem, not an opinion.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322BD4C-1D71-4707-A9C4-3DBEF59D65F9}"/>
              </a:ext>
            </a:extLst>
          </p:cNvPr>
          <p:cNvSpPr/>
          <p:nvPr/>
        </p:nvSpPr>
        <p:spPr>
          <a:xfrm>
            <a:off x="857250" y="4476750"/>
            <a:ext cx="10477500" cy="11620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625442A-914A-47B8-9082-B08EDDD1EF96}"/>
              </a:ext>
            </a:extLst>
          </p:cNvPr>
          <p:cNvSpPr txBox="1"/>
          <p:nvPr/>
        </p:nvSpPr>
        <p:spPr>
          <a:xfrm>
            <a:off x="1143000" y="4667250"/>
            <a:ext cx="9906000" cy="8953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5A623"/>
                </a:solidFill>
                <a:latin typeface="Segoe UI"/>
                <a:ea typeface="Segoe UI"/>
              </a:rPr>
              <a:t>WHY IT MATTERS</a:t>
            </a:r>
          </a:p>
          <a:p>
            <a:pPr algn="l">
              <a:lnSpc>
                <a:spcPct val="122000"/>
              </a:lnSpc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Determinism is what lets an automated verdict stand in front of a regulator. An engine that cannot reproduce its own answer for the same facts turns every decision into an argument - and every audit into a rewrite of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803E68C-7E70-4196-8A40-B7E4528983C9}"/>
              </a:ext>
            </a:extLst>
          </p:cNvPr>
          <p:cNvSpPr txBox="1"/>
          <p:nvPr/>
        </p:nvSpPr>
        <p:spPr>
          <a:xfrm>
            <a:off x="857250" y="495300"/>
            <a:ext cx="7810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EEF7"/>
                </a:solidFill>
                <a:latin typeface="Segoe UI"/>
                <a:ea typeface="Segoe UI"/>
              </a:rPr>
              <a:t>Guardrail 4 · Fail closed, fail visibly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395C5A6-FC00-4476-BF29-DFEA63D9982E}"/>
              </a:ext>
            </a:extLst>
          </p:cNvPr>
          <p:cNvSpPr txBox="1"/>
          <p:nvPr/>
        </p:nvSpPr>
        <p:spPr>
          <a:xfrm>
            <a:off x="857250" y="1066800"/>
            <a:ext cx="7810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i="1">
                <a:solidFill>
                  <a:srgbClr val="93A4BF"/>
                </a:solidFill>
                <a:latin typeface="Segoe UI"/>
                <a:ea typeface="Segoe UI"/>
              </a:rPr>
              <a:t>Verdicts are ordered, so the loudest signal always wins.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C7829E4-79E7-42C0-8C8E-B2E4D1437F8F}"/>
              </a:ext>
            </a:extLst>
          </p:cNvPr>
          <p:cNvSpPr/>
          <p:nvPr/>
        </p:nvSpPr>
        <p:spPr>
          <a:xfrm>
            <a:off x="9144000" y="590550"/>
            <a:ext cx="133350" cy="13335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FDBE925-D922-4AE6-8739-36F18C4CA5EF}"/>
              </a:ext>
            </a:extLst>
          </p:cNvPr>
          <p:cNvSpPr txBox="1"/>
          <p:nvPr/>
        </p:nvSpPr>
        <p:spPr>
          <a:xfrm>
            <a:off x="9372600" y="542925"/>
            <a:ext cx="2000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cleared to proceed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38738BF-B472-4DD5-9F63-696CF37595DF}"/>
              </a:ext>
            </a:extLst>
          </p:cNvPr>
          <p:cNvSpPr/>
          <p:nvPr/>
        </p:nvSpPr>
        <p:spPr>
          <a:xfrm>
            <a:off x="9144000" y="857250"/>
            <a:ext cx="133350" cy="13335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079DC85-3765-4620-BA6C-239FEF4E63AE}"/>
              </a:ext>
            </a:extLst>
          </p:cNvPr>
          <p:cNvSpPr txBox="1"/>
          <p:nvPr/>
        </p:nvSpPr>
        <p:spPr>
          <a:xfrm>
            <a:off x="9372600" y="809625"/>
            <a:ext cx="2000250" cy="36576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escalated, blocked, or stopped</a:t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3C82C2BD-7F99-4565-9BF6-F7E540A7BDC4}"/>
              </a:ext>
            </a:extLst>
          </p:cNvPr>
          <p:cNvCxnSpPr/>
          <p:nvPr/>
        </p:nvCxnSpPr>
        <p:spPr>
          <a:xfrm>
            <a:off x="857250" y="1485900"/>
            <a:ext cx="10477500" cy="9525"/>
          </a:xfrm>
          <a:prstGeom prst="line">
            <a:avLst/>
          </a:prstGeom>
          <a:ln w="12700" cap="flat">
            <a:solidFill>
              <a:srgbClr val="22314A"/>
            </a:solidFill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1F53FEC7-9029-47C3-9EA1-FD62CEBE069A}"/>
              </a:ext>
            </a:extLst>
          </p:cNvPr>
          <p:cNvSpPr txBox="1"/>
          <p:nvPr/>
        </p:nvSpPr>
        <p:spPr>
          <a:xfrm>
            <a:off x="857250" y="1866900"/>
            <a:ext cx="381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  <a:ea typeface="Segoe UI"/>
              </a:rPr>
              <a:t>0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C1B77AB-313F-45A4-BC8D-3817683578FB}"/>
              </a:ext>
            </a:extLst>
          </p:cNvPr>
          <p:cNvSpPr txBox="1"/>
          <p:nvPr/>
        </p:nvSpPr>
        <p:spPr>
          <a:xfrm>
            <a:off x="1295400" y="1847850"/>
            <a:ext cx="27241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EEF7"/>
                </a:solidFill>
                <a:latin typeface="Consolas"/>
                <a:ea typeface="Consolas"/>
              </a:rPr>
              <a:t>ALLOW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299F36D-421A-4743-B613-6728434DBFC7}"/>
              </a:ext>
            </a:extLst>
          </p:cNvPr>
          <p:cNvSpPr/>
          <p:nvPr/>
        </p:nvSpPr>
        <p:spPr>
          <a:xfrm>
            <a:off x="4095750" y="1828800"/>
            <a:ext cx="952500" cy="3048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9EC3116-A33D-4752-9B28-E6B16C780F52}"/>
              </a:ext>
            </a:extLst>
          </p:cNvPr>
          <p:cNvSpPr txBox="1"/>
          <p:nvPr/>
        </p:nvSpPr>
        <p:spPr>
          <a:xfrm>
            <a:off x="9048750" y="1771650"/>
            <a:ext cx="2286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</a:rPr>
              <a:t>TERMINAL</a:t>
            </a: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 · pipeline proceeds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4DBDA1D-81F3-4099-B411-3B7C9E4A4E4B}"/>
              </a:ext>
            </a:extLst>
          </p:cNvPr>
          <p:cNvSpPr txBox="1"/>
          <p:nvPr/>
        </p:nvSpPr>
        <p:spPr>
          <a:xfrm>
            <a:off x="857250" y="2514600"/>
            <a:ext cx="381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  <a:ea typeface="Segoe UI"/>
              </a:rPr>
              <a:t>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DDC316B-9A8E-4F30-A3F8-7B457FE1E2E3}"/>
              </a:ext>
            </a:extLst>
          </p:cNvPr>
          <p:cNvSpPr txBox="1"/>
          <p:nvPr/>
        </p:nvSpPr>
        <p:spPr>
          <a:xfrm>
            <a:off x="1295400" y="2495550"/>
            <a:ext cx="27241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EEF7"/>
                </a:solidFill>
                <a:latin typeface="Consolas"/>
                <a:ea typeface="Consolas"/>
              </a:rPr>
              <a:t>HUMAN_REVIEW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C311FD7-F73C-4665-89C0-85C81AC1F1E5}"/>
              </a:ext>
            </a:extLst>
          </p:cNvPr>
          <p:cNvSpPr/>
          <p:nvPr/>
        </p:nvSpPr>
        <p:spPr>
          <a:xfrm>
            <a:off x="4095750" y="2476500"/>
            <a:ext cx="1905000" cy="304800"/>
          </a:xfrm>
          <a:prstGeom prst="rect">
            <a:avLst/>
          </a:prstGeom>
          <a:solidFill>
            <a:srgbClr val="F5A623">
              <a:alpha val="30196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2046F69-5E64-4AC5-804C-69FA45A91BDE}"/>
              </a:ext>
            </a:extLst>
          </p:cNvPr>
          <p:cNvSpPr txBox="1"/>
          <p:nvPr/>
        </p:nvSpPr>
        <p:spPr>
          <a:xfrm>
            <a:off x="9048750" y="2419350"/>
            <a:ext cx="2286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A623"/>
                </a:solidFill>
                <a:latin typeface="Segoe UI"/>
                <a:ea typeface="Segoe UI"/>
              </a:rPr>
              <a:t>BLOCKING</a:t>
            </a: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 · a named person decides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5D86AE0-880D-4BD7-BCA8-3E3A18677809}"/>
              </a:ext>
            </a:extLst>
          </p:cNvPr>
          <p:cNvSpPr txBox="1"/>
          <p:nvPr/>
        </p:nvSpPr>
        <p:spPr>
          <a:xfrm>
            <a:off x="857250" y="3162300"/>
            <a:ext cx="381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  <a:ea typeface="Segoe UI"/>
              </a:rPr>
              <a:t>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13FEF10-3E71-4A6F-AF38-CA18AAF8A496}"/>
              </a:ext>
            </a:extLst>
          </p:cNvPr>
          <p:cNvSpPr txBox="1"/>
          <p:nvPr/>
        </p:nvSpPr>
        <p:spPr>
          <a:xfrm>
            <a:off x="1295400" y="3067050"/>
            <a:ext cx="27241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EF7"/>
                </a:solidFill>
                <a:latin typeface="Consolas"/>
                <a:ea typeface="Consolas"/>
              </a:rPr>
              <a:t>REQUIRE_LICENCE</a:t>
            </a:r>
          </a:p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EF7"/>
                </a:solidFill>
                <a:latin typeface="Consolas"/>
                <a:ea typeface="Consolas"/>
              </a:rPr>
              <a:t>REQUIRE_MECHANISM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8FE60576-48EC-4E8C-A7E8-8A8ED1B622D7}"/>
              </a:ext>
            </a:extLst>
          </p:cNvPr>
          <p:cNvSpPr/>
          <p:nvPr/>
        </p:nvSpPr>
        <p:spPr>
          <a:xfrm>
            <a:off x="4095750" y="3124200"/>
            <a:ext cx="2857500" cy="304800"/>
          </a:xfrm>
          <a:prstGeom prst="rect">
            <a:avLst/>
          </a:prstGeom>
          <a:solidFill>
            <a:srgbClr val="F5A623">
              <a:alpha val="6000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5A24F0B-34A0-4996-85DF-1922BC1F63C6}"/>
              </a:ext>
            </a:extLst>
          </p:cNvPr>
          <p:cNvSpPr txBox="1"/>
          <p:nvPr/>
        </p:nvSpPr>
        <p:spPr>
          <a:xfrm>
            <a:off x="9048750" y="3067050"/>
            <a:ext cx="2286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A623"/>
                </a:solidFill>
                <a:latin typeface="Segoe UI"/>
                <a:ea typeface="Segoe UI"/>
              </a:rPr>
              <a:t>BLOCKING</a:t>
            </a: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 · stop and fetch the authorisation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10B5130-36C7-47D2-97DE-41F3808FD299}"/>
              </a:ext>
            </a:extLst>
          </p:cNvPr>
          <p:cNvSpPr txBox="1"/>
          <p:nvPr/>
        </p:nvSpPr>
        <p:spPr>
          <a:xfrm>
            <a:off x="857250" y="3810000"/>
            <a:ext cx="381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  <a:ea typeface="Segoe UI"/>
              </a:rPr>
              <a:t>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E1EC853-F829-4632-AA80-3A909F6E625F}"/>
              </a:ext>
            </a:extLst>
          </p:cNvPr>
          <p:cNvSpPr txBox="1"/>
          <p:nvPr/>
        </p:nvSpPr>
        <p:spPr>
          <a:xfrm>
            <a:off x="1295400" y="3790950"/>
            <a:ext cx="27241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EEF7"/>
                </a:solidFill>
                <a:latin typeface="Consolas"/>
                <a:ea typeface="Consolas"/>
              </a:rPr>
              <a:t>DENY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6FE6859F-9261-4397-82C9-73B535144999}"/>
              </a:ext>
            </a:extLst>
          </p:cNvPr>
          <p:cNvSpPr/>
          <p:nvPr/>
        </p:nvSpPr>
        <p:spPr>
          <a:xfrm>
            <a:off x="4095750" y="3771900"/>
            <a:ext cx="3810000" cy="304800"/>
          </a:xfrm>
          <a:prstGeom prst="rect">
            <a:avLst/>
          </a:prstGeom>
          <a:solidFill>
            <a:srgbClr val="F5A623">
              <a:alpha val="90196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5D57507-6AEA-4CFA-A31A-D35EC1ECAF75}"/>
              </a:ext>
            </a:extLst>
          </p:cNvPr>
          <p:cNvSpPr txBox="1"/>
          <p:nvPr/>
        </p:nvSpPr>
        <p:spPr>
          <a:xfrm>
            <a:off x="9048750" y="3714750"/>
            <a:ext cx="2286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</a:rPr>
              <a:t>TERMINAL</a:t>
            </a: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 · hard stop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B9076BD-B515-44F4-A5E6-56AFDF9852F8}"/>
              </a:ext>
            </a:extLst>
          </p:cNvPr>
          <p:cNvSpPr txBox="1"/>
          <p:nvPr/>
        </p:nvSpPr>
        <p:spPr>
          <a:xfrm>
            <a:off x="857250" y="4457700"/>
            <a:ext cx="381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  <a:ea typeface="Segoe UI"/>
              </a:rPr>
              <a:t>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291E0AB-F8CF-4EC5-A2CD-0B2C20D1AAA4}"/>
              </a:ext>
            </a:extLst>
          </p:cNvPr>
          <p:cNvSpPr txBox="1"/>
          <p:nvPr/>
        </p:nvSpPr>
        <p:spPr>
          <a:xfrm>
            <a:off x="1295400" y="4438650"/>
            <a:ext cx="27241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EEF7"/>
                </a:solidFill>
                <a:latin typeface="Consolas"/>
                <a:ea typeface="Consolas"/>
              </a:rPr>
              <a:t>PROHIBITED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A8CC5C3D-5EFE-4A0A-9F23-74023EE41F48}"/>
              </a:ext>
            </a:extLst>
          </p:cNvPr>
          <p:cNvSpPr/>
          <p:nvPr/>
        </p:nvSpPr>
        <p:spPr>
          <a:xfrm>
            <a:off x="4095750" y="4419600"/>
            <a:ext cx="4762500" cy="3048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7DC1FC5-5039-47FF-A35F-39D1B21980AA}"/>
              </a:ext>
            </a:extLst>
          </p:cNvPr>
          <p:cNvSpPr txBox="1"/>
          <p:nvPr/>
        </p:nvSpPr>
        <p:spPr>
          <a:xfrm>
            <a:off x="9048750" y="4362450"/>
            <a:ext cx="2286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</a:rPr>
              <a:t>TERMINAL</a:t>
            </a: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 · never, in any jurisdiction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F367FEEC-10FE-47FE-9599-44A2CFD88976}"/>
              </a:ext>
            </a:extLst>
          </p:cNvPr>
          <p:cNvSpPr/>
          <p:nvPr/>
        </p:nvSpPr>
        <p:spPr>
          <a:xfrm>
            <a:off x="857250" y="5105400"/>
            <a:ext cx="10477500" cy="11811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AC7208B-73D3-474F-BD09-3D4C7DE6C8CD}"/>
              </a:ext>
            </a:extLst>
          </p:cNvPr>
          <p:cNvSpPr txBox="1"/>
          <p:nvPr/>
        </p:nvSpPr>
        <p:spPr>
          <a:xfrm>
            <a:off x="1143000" y="5257800"/>
            <a:ext cx="9906000" cy="1121156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5A623"/>
                </a:solidFill>
                <a:latin typeface="Segoe UI"/>
                <a:ea typeface="Segoe UI"/>
              </a:rPr>
              <a:t>FAIL-CLOSED BY DEFAULT</a:t>
            </a:r>
          </a:p>
          <a:p>
            <a:pPr algn="l">
              <a:lnSpc>
                <a:spcPct val="122000"/>
              </a:lnSpc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Anything the engine cannot work with does not become ALLOW. An unmapped destination, a category the dataset never declared, a quantity whose unit will not parse, a screening step that did not run, a null payload - each one resolves to HUMAN_REVIEW carrying a reason code that names exactly what is missing.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3D8E6D0-6AB7-406B-851C-3F34B1BDF678}"/>
              </a:ext>
            </a:extLst>
          </p:cNvPr>
          <p:cNvSpPr txBox="1"/>
          <p:nvPr/>
        </p:nvSpPr>
        <p:spPr>
          <a:xfrm>
            <a:off x="857250" y="495300"/>
            <a:ext cx="8191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EEF7"/>
                </a:solidFill>
                <a:latin typeface="Segoe UI"/>
                <a:ea typeface="Segoe UI"/>
              </a:rPr>
              <a:t>Pillar 2 · The gate before the write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29A4BAB-63F5-4224-A7B6-DB9C8E614300}"/>
              </a:ext>
            </a:extLst>
          </p:cNvPr>
          <p:cNvSpPr txBox="1"/>
          <p:nvPr/>
        </p:nvSpPr>
        <p:spPr>
          <a:xfrm>
            <a:off x="857250" y="1066800"/>
            <a:ext cx="8191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i="1">
                <a:solidFill>
                  <a:srgbClr val="93A4BF"/>
                </a:solidFill>
                <a:latin typeface="Segoe UI"/>
                <a:ea typeface="Segoe UI"/>
              </a:rPr>
              <a:t>Residency is resolved before a cross-border read is allowed to happen - three live verdicts.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104E9AB-ACFB-476E-B312-09C8D7B55633}"/>
              </a:ext>
            </a:extLst>
          </p:cNvPr>
          <p:cNvPicPr/>
          <p:nvPr/>
        </p:nvPicPr>
        <p:blipFill>
          <a:blip r:embed="rId2"/>
          <a:srcRect l="7391" r="7391"/>
          <a:stretch>
            <a:fillRect/>
          </a:stretch>
        </p:blipFill>
        <p:spPr>
          <a:xfrm>
            <a:off x="6667500" y="1447800"/>
            <a:ext cx="4667250" cy="43815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970EE21-916E-4A47-A8B6-76A26E5DF205}"/>
              </a:ext>
            </a:extLst>
          </p:cNvPr>
          <p:cNvSpPr txBox="1"/>
          <p:nvPr/>
        </p:nvSpPr>
        <p:spPr>
          <a:xfrm>
            <a:off x="6667500" y="5943600"/>
            <a:ext cx="4667250" cy="36576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93A4BF"/>
                </a:solidFill>
                <a:latin typeface="Segoe UI"/>
                <a:ea typeface="Segoe UI"/>
              </a:rPr>
              <a:t>Sovereign pipeline: data lands in-region, only aggregated results may leave.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32DE24D-A3DC-4223-A2D4-FDF3899F778D}"/>
              </a:ext>
            </a:extLst>
          </p:cNvPr>
          <p:cNvSpPr/>
          <p:nvPr/>
        </p:nvSpPr>
        <p:spPr>
          <a:xfrm>
            <a:off x="857250" y="1771650"/>
            <a:ext cx="5334000" cy="11620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551F5A-71F7-4442-B2EA-01CF7E936601}"/>
              </a:ext>
            </a:extLst>
          </p:cNvPr>
          <p:cNvSpPr txBox="1"/>
          <p:nvPr/>
        </p:nvSpPr>
        <p:spPr>
          <a:xfrm>
            <a:off x="1085850" y="1981200"/>
            <a:ext cx="33337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</a:rPr>
              <a:t>DE-origin PII into EU analytics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FDB28EE-BAD2-407D-9000-2BAF946E7526}"/>
              </a:ext>
            </a:extLst>
          </p:cNvPr>
          <p:cNvSpPr txBox="1"/>
          <p:nvPr/>
        </p:nvSpPr>
        <p:spPr>
          <a:xfrm>
            <a:off x="1085850" y="2362200"/>
            <a:ext cx="333375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100">
                <a:solidFill>
                  <a:srgbClr val="93A4BF"/>
                </a:solidFill>
                <a:latin typeface="Consolas"/>
                <a:ea typeface="Consolas"/>
              </a:rPr>
              <a:t>SCC_MODULE_2_C2P</a:t>
            </a: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 · evidence on file · a contract route needs a named human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E2AC60A-8304-424B-9AB3-89603B1EA194}"/>
              </a:ext>
            </a:extLst>
          </p:cNvPr>
          <p:cNvSpPr/>
          <p:nvPr/>
        </p:nvSpPr>
        <p:spPr>
          <a:xfrm>
            <a:off x="4629150" y="2190750"/>
            <a:ext cx="1428750" cy="323850"/>
          </a:xfrm>
          <a:prstGeom prst="round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EF01895-5515-479C-8939-CF816EBFD1EA}"/>
              </a:ext>
            </a:extLst>
          </p:cNvPr>
          <p:cNvSpPr txBox="1"/>
          <p:nvPr/>
        </p:nvSpPr>
        <p:spPr>
          <a:xfrm>
            <a:off x="4629150" y="2228850"/>
            <a:ext cx="142875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000" b="1">
                <a:solidFill>
                  <a:srgbClr val="F5A623"/>
                </a:solidFill>
                <a:latin typeface="Consolas"/>
                <a:ea typeface="Consolas"/>
              </a:rPr>
              <a:t>HUMAN_REVIEW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1CF42F0-423B-45D5-B918-254EF167E868}"/>
              </a:ext>
            </a:extLst>
          </p:cNvPr>
          <p:cNvSpPr/>
          <p:nvPr/>
        </p:nvSpPr>
        <p:spPr>
          <a:xfrm>
            <a:off x="857250" y="3067050"/>
            <a:ext cx="5334000" cy="11620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241008C-5FE0-4155-8971-3C13B71B61A6}"/>
              </a:ext>
            </a:extLst>
          </p:cNvPr>
          <p:cNvSpPr txBox="1"/>
          <p:nvPr/>
        </p:nvSpPr>
        <p:spPr>
          <a:xfrm>
            <a:off x="1085850" y="3276600"/>
            <a:ext cx="33337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</a:rPr>
              <a:t>JP-origin telemetry into EU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B2DC81A-2885-4016-96E3-0C5A13C654AE}"/>
              </a:ext>
            </a:extLst>
          </p:cNvPr>
          <p:cNvSpPr txBox="1"/>
          <p:nvPr/>
        </p:nvSpPr>
        <p:spPr>
          <a:xfrm>
            <a:off x="1085850" y="3657600"/>
            <a:ext cx="333375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100">
                <a:solidFill>
                  <a:srgbClr val="93A4BF"/>
                </a:solidFill>
                <a:latin typeface="Consolas"/>
                <a:ea typeface="Consolas"/>
              </a:rPr>
              <a:t>EU_ADEQUACY</a:t>
            </a: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 · the only rung that auto-clears · no evidence gate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4FBBAA8-1B07-49E7-8766-84C003600CA2}"/>
              </a:ext>
            </a:extLst>
          </p:cNvPr>
          <p:cNvSpPr/>
          <p:nvPr/>
        </p:nvSpPr>
        <p:spPr>
          <a:xfrm>
            <a:off x="4629150" y="3486150"/>
            <a:ext cx="1428750" cy="323850"/>
          </a:xfrm>
          <a:prstGeom prst="round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E4BCACD-8789-46A4-A623-EFD296EB50E9}"/>
              </a:ext>
            </a:extLst>
          </p:cNvPr>
          <p:cNvSpPr txBox="1"/>
          <p:nvPr/>
        </p:nvSpPr>
        <p:spPr>
          <a:xfrm>
            <a:off x="4629150" y="3524250"/>
            <a:ext cx="142875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100" b="1">
                <a:solidFill>
                  <a:srgbClr val="38BDF8"/>
                </a:solidFill>
                <a:latin typeface="Consolas"/>
                <a:ea typeface="Consolas"/>
              </a:rPr>
              <a:t>ALLOW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167E339-47D5-4EDF-BB4D-13633E878221}"/>
              </a:ext>
            </a:extLst>
          </p:cNvPr>
          <p:cNvSpPr/>
          <p:nvPr/>
        </p:nvSpPr>
        <p:spPr>
          <a:xfrm>
            <a:off x="857250" y="4362450"/>
            <a:ext cx="5334000" cy="11620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7E2307D-D13D-44AB-BF68-4E397464E6E8}"/>
              </a:ext>
            </a:extLst>
          </p:cNvPr>
          <p:cNvSpPr txBox="1"/>
          <p:nvPr/>
        </p:nvSpPr>
        <p:spPr>
          <a:xfrm>
            <a:off x="1085850" y="4572000"/>
            <a:ext cx="33337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</a:rPr>
              <a:t>Hard-localised payments data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758459E-203A-456D-9FC0-1210C91ABD23}"/>
              </a:ext>
            </a:extLst>
          </p:cNvPr>
          <p:cNvSpPr txBox="1"/>
          <p:nvPr/>
        </p:nvSpPr>
        <p:spPr>
          <a:xfrm>
            <a:off x="1085850" y="4953000"/>
            <a:ext cx="333375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no mechanism offered · residency here is absolute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36A8C94A-159C-4CCC-A4E5-2156D1293F60}"/>
              </a:ext>
            </a:extLst>
          </p:cNvPr>
          <p:cNvSpPr/>
          <p:nvPr/>
        </p:nvSpPr>
        <p:spPr>
          <a:xfrm>
            <a:off x="4629150" y="4781550"/>
            <a:ext cx="1428750" cy="323850"/>
          </a:xfrm>
          <a:prstGeom prst="round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7450147-EC30-414F-86E5-635FFDD5D421}"/>
              </a:ext>
            </a:extLst>
          </p:cNvPr>
          <p:cNvSpPr txBox="1"/>
          <p:nvPr/>
        </p:nvSpPr>
        <p:spPr>
          <a:xfrm>
            <a:off x="4629150" y="4819650"/>
            <a:ext cx="142875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100" b="1">
                <a:solidFill>
                  <a:srgbClr val="F5A623"/>
                </a:solidFill>
                <a:latin typeface="Consolas"/>
                <a:ea typeface="Consolas"/>
              </a:rPr>
              <a:t>DENY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D5591F8-495B-4B33-A05E-A837889CC11A}"/>
              </a:ext>
            </a:extLst>
          </p:cNvPr>
          <p:cNvSpPr txBox="1"/>
          <p:nvPr/>
        </p:nvSpPr>
        <p:spPr>
          <a:xfrm>
            <a:off x="857250" y="495300"/>
            <a:ext cx="10477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EEF7"/>
                </a:solidFill>
                <a:latin typeface="Segoe UI"/>
                <a:ea typeface="Segoe UI"/>
              </a:rPr>
              <a:t>Pillar 3 · Bounding the pricing agent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042D22A-B7C4-49A4-B604-B1EF4F00D017}"/>
              </a:ext>
            </a:extLst>
          </p:cNvPr>
          <p:cNvSpPr txBox="1"/>
          <p:nvPr/>
        </p:nvSpPr>
        <p:spPr>
          <a:xfrm>
            <a:off x="857250" y="106680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i="1">
                <a:solidFill>
                  <a:srgbClr val="93A4BF"/>
                </a:solidFill>
                <a:latin typeface="Segoe UI"/>
                <a:ea typeface="Segoe UI"/>
              </a:rPr>
              <a:t>Autonomous capture, human-owned consequences - the same gate, pointed at a browser-equipped agent.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24CAA5C-7C45-4280-9E90-830418336672}"/>
              </a:ext>
            </a:extLst>
          </p:cNvPr>
          <p:cNvSpPr/>
          <p:nvPr/>
        </p:nvSpPr>
        <p:spPr>
          <a:xfrm>
            <a:off x="857250" y="1676400"/>
            <a:ext cx="3238500" cy="37719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004DD1C-9BDC-4937-8D16-0E0A7864CFE2}"/>
              </a:ext>
            </a:extLst>
          </p:cNvPr>
          <p:cNvSpPr txBox="1"/>
          <p:nvPr/>
        </p:nvSpPr>
        <p:spPr>
          <a:xfrm>
            <a:off x="1085850" y="1885950"/>
            <a:ext cx="3048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0F7CACA-92E2-4C0E-B0EA-BF4E41133809}"/>
              </a:ext>
            </a:extLst>
          </p:cNvPr>
          <p:cNvSpPr txBox="1"/>
          <p:nvPr/>
        </p:nvSpPr>
        <p:spPr>
          <a:xfrm>
            <a:off x="1428750" y="1847850"/>
            <a:ext cx="2095500" cy="592531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E8EEF7"/>
                </a:solidFill>
                <a:latin typeface="Segoe UI"/>
                <a:ea typeface="Segoe UI"/>
              </a:rPr>
              <a:t>Registered, not prompted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4147A48-F230-4F88-B7A7-F9622CCC1A7B}"/>
              </a:ext>
            </a:extLst>
          </p:cNvPr>
          <p:cNvSpPr txBox="1"/>
          <p:nvPr/>
        </p:nvSpPr>
        <p:spPr>
          <a:xfrm>
            <a:off x="1085850" y="2419350"/>
            <a:ext cx="27813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>
                <a:solidFill>
                  <a:srgbClr val="93A4BF"/>
                </a:solidFill>
                <a:latin typeface="Consolas"/>
                <a:ea typeface="Consolas"/>
              </a:rPr>
              <a:t>agent_id: </a:t>
            </a:r>
            <a:r>
              <a:rPr sz="1000">
                <a:solidFill>
                  <a:srgbClr val="E8EEF7"/>
                </a:solidFill>
                <a:latin typeface="Consolas"/>
                <a:ea typeface="Consolas"/>
              </a:rPr>
              <a:t>agt-pricing-scout-mea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>
                <a:solidFill>
                  <a:srgbClr val="93A4BF"/>
                </a:solidFill>
                <a:latin typeface="Consolas"/>
                <a:ea typeface="Consolas"/>
              </a:rPr>
              <a:t>tool_class: </a:t>
            </a:r>
            <a:r>
              <a:rPr sz="1000">
                <a:solidFill>
                  <a:srgbClr val="E8EEF7"/>
                </a:solidFill>
                <a:latin typeface="Consolas"/>
                <a:ea typeface="Consolas"/>
              </a:rPr>
              <a:t>browser_capture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>
                <a:solidFill>
                  <a:srgbClr val="93A4BF"/>
                </a:solidFill>
                <a:latin typeface="Consolas"/>
                <a:ea typeface="Consolas"/>
              </a:rPr>
              <a:t>operating_regions: </a:t>
            </a:r>
            <a:r>
              <a:rPr sz="1000">
                <a:solidFill>
                  <a:srgbClr val="E8EEF7"/>
                </a:solidFill>
                <a:latin typeface="Consolas"/>
                <a:ea typeface="Consolas"/>
              </a:rPr>
              <a:t>["ae-1"]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>
                <a:solidFill>
                  <a:srgbClr val="93A4BF"/>
                </a:solidFill>
                <a:latin typeface="Consolas"/>
                <a:ea typeface="Consolas"/>
              </a:rPr>
              <a:t>allowed_purposes: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>
                <a:solidFill>
                  <a:srgbClr val="E8EEF7"/>
                </a:solidFill>
                <a:latin typeface="Consolas"/>
                <a:ea typeface="Consolas"/>
              </a:rPr>
              <a:t>  competitive_pricing_intelligence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>
                <a:solidFill>
                  <a:srgbClr val="93A4BF"/>
                </a:solidFill>
                <a:latin typeface="Consolas"/>
                <a:ea typeface="Consolas"/>
              </a:rPr>
              <a:t>autonomy_level: </a:t>
            </a:r>
            <a:r>
              <a:rPr sz="1000">
                <a:solidFill>
                  <a:srgbClr val="E8EEF7"/>
                </a:solidFill>
                <a:latin typeface="Consolas"/>
                <a:ea typeface="Consolas"/>
              </a:rPr>
              <a:t>RECOMMEND_ONLY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>
                <a:solidFill>
                  <a:srgbClr val="93A4BF"/>
                </a:solidFill>
                <a:latin typeface="Consolas"/>
                <a:ea typeface="Consolas"/>
              </a:rPr>
              <a:t>may_write_pii: </a:t>
            </a:r>
            <a:r>
              <a:rPr sz="1000">
                <a:solidFill>
                  <a:srgbClr val="E8EEF7"/>
                </a:solidFill>
                <a:latin typeface="Consolas"/>
                <a:ea typeface="Consolas"/>
              </a:rPr>
              <a:t>false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BB4769C-F785-4E78-A8A8-F614B6E57C14}"/>
              </a:ext>
            </a:extLst>
          </p:cNvPr>
          <p:cNvSpPr txBox="1"/>
          <p:nvPr/>
        </p:nvSpPr>
        <p:spPr>
          <a:xfrm>
            <a:off x="1085850" y="4191000"/>
            <a:ext cx="27813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These bounds live in the tenant record the policy reads. Re-wording the agent's prompt cannot widen them - an off-list purpose or an unlisted region stops the job at the gate.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0A8C5BC-55B7-4053-BB37-F9C0E35ABA5B}"/>
              </a:ext>
            </a:extLst>
          </p:cNvPr>
          <p:cNvSpPr/>
          <p:nvPr/>
        </p:nvSpPr>
        <p:spPr>
          <a:xfrm>
            <a:off x="4476750" y="1676400"/>
            <a:ext cx="3238500" cy="37719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B95B075-DDDD-4D51-B1BC-40F2068D4E32}"/>
              </a:ext>
            </a:extLst>
          </p:cNvPr>
          <p:cNvSpPr txBox="1"/>
          <p:nvPr/>
        </p:nvSpPr>
        <p:spPr>
          <a:xfrm>
            <a:off x="4705350" y="1885950"/>
            <a:ext cx="3048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0A18CF4-9F42-440F-881A-A1D8E1A1F99B}"/>
              </a:ext>
            </a:extLst>
          </p:cNvPr>
          <p:cNvSpPr txBox="1"/>
          <p:nvPr/>
        </p:nvSpPr>
        <p:spPr>
          <a:xfrm>
            <a:off x="5048250" y="1847850"/>
            <a:ext cx="2095500" cy="592531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E8EEF7"/>
                </a:solidFill>
                <a:latin typeface="Segoe UI"/>
                <a:ea typeface="Segoe UI"/>
              </a:rPr>
              <a:t>Gate before the browser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EBC6AB3-86EC-4AF0-960E-4A0DA5269361}"/>
              </a:ext>
            </a:extLst>
          </p:cNvPr>
          <p:cNvSpPr txBox="1"/>
          <p:nvPr/>
        </p:nvSpPr>
        <p:spPr>
          <a:xfrm>
            <a:off x="4705350" y="2419350"/>
            <a:ext cx="2781300" cy="2819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The scout calls the gate with its own agent id and purpose. If the purpose is not on the allow-list, the capture never starts.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>
                <a:solidFill>
                  <a:srgbClr val="E8EEF7"/>
                </a:solidFill>
                <a:latin typeface="Segoe UI"/>
                <a:ea typeface="Segoe UI"/>
              </a:rPr>
              <a:t>What it collected still clears residency, the k-anonymity floor, and the transfer ladder.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A623"/>
                </a:solidFill>
                <a:latin typeface="Segoe UI"/>
                <a:ea typeface="Segoe UI"/>
              </a:rPr>
              <a:t>RECOMMEND_ONLY</a:t>
            </a: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 means a price change is a proposal with a human owner, never a write.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4F92E165-DEC6-4B89-B932-A932B6D2753D}"/>
              </a:ext>
            </a:extLst>
          </p:cNvPr>
          <p:cNvSpPr/>
          <p:nvPr/>
        </p:nvSpPr>
        <p:spPr>
          <a:xfrm>
            <a:off x="8096250" y="1676400"/>
            <a:ext cx="3238500" cy="37719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6A10DFB-25DA-4623-8E0E-68A3EDB7141E}"/>
              </a:ext>
            </a:extLst>
          </p:cNvPr>
          <p:cNvSpPr txBox="1"/>
          <p:nvPr/>
        </p:nvSpPr>
        <p:spPr>
          <a:xfrm>
            <a:off x="8324850" y="1885950"/>
            <a:ext cx="3048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E21E5C0-C144-4AAA-A8E9-5C729DB351EF}"/>
              </a:ext>
            </a:extLst>
          </p:cNvPr>
          <p:cNvSpPr txBox="1"/>
          <p:nvPr/>
        </p:nvSpPr>
        <p:spPr>
          <a:xfrm>
            <a:off x="8667750" y="1847850"/>
            <a:ext cx="2095500" cy="592531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E8EEF7"/>
                </a:solidFill>
                <a:latin typeface="Segoe UI"/>
                <a:ea typeface="Segoe UI"/>
              </a:rPr>
              <a:t>Facts out, verdicts in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9825C6E-0701-42F6-A40B-4809C9CACEDF}"/>
              </a:ext>
            </a:extLst>
          </p:cNvPr>
          <p:cNvSpPr txBox="1"/>
          <p:nvPr/>
        </p:nvSpPr>
        <p:spPr>
          <a:xfrm>
            <a:off x="8324850" y="2419350"/>
            <a:ext cx="278130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Parsed parameters come back with </a:t>
            </a:r>
            <a:r>
              <a:rPr sz="1100">
                <a:solidFill>
                  <a:srgbClr val="E8EEF7"/>
                </a:solidFill>
                <a:latin typeface="Consolas"/>
                <a:ea typeface="Consolas"/>
              </a:rPr>
              <a:t>"authoritative": false</a:t>
            </a:r>
            <a:r>
              <a:rPr/>
              <a:t> - and no verdict field at all.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E8EEF7"/>
                </a:solidFill>
                <a:latin typeface="Segoe UI"/>
                <a:ea typeface="Segoe UI"/>
              </a:rPr>
              <a:t>A model-read spec sheet can raise a classification toward review. It can never pull one into ALLOW.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C21B7C6-603D-40C8-859B-AC975160F233}"/>
              </a:ext>
            </a:extLst>
          </p:cNvPr>
          <p:cNvSpPr txBox="1"/>
          <p:nvPr/>
        </p:nvSpPr>
        <p:spPr>
          <a:xfrm>
            <a:off x="8324850" y="4438650"/>
            <a:ext cx="2781300" cy="876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A623"/>
                </a:solidFill>
                <a:latin typeface="Segoe UI"/>
                <a:ea typeface="Segoe UI"/>
              </a:rPr>
              <a:t>AUTHORITATIVE SOURCES ONLY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93A4BF"/>
                </a:solidFill>
                <a:latin typeface="Consolas"/>
                <a:ea typeface="Consolas"/>
              </a:rPr>
              <a:t>MANUAL_VERIFICATION · CERTIFICATE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93A4BF"/>
                </a:solidFill>
                <a:latin typeface="Consolas"/>
                <a:ea typeface="Consolas"/>
              </a:rPr>
              <a:t>DECLARATION · SIGNED_SPEC_SHEET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93A4BF"/>
                </a:solidFill>
                <a:latin typeface="Consolas"/>
                <a:ea typeface="Consolas"/>
              </a:rPr>
              <a:t>REGULATOR_RULING · ERP_MASTER_DATA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2C4B38E-9DBC-4227-8BA0-89F23ECA91CE}"/>
              </a:ext>
            </a:extLst>
          </p:cNvPr>
          <p:cNvSpPr/>
          <p:nvPr/>
        </p:nvSpPr>
        <p:spPr>
          <a:xfrm>
            <a:off x="857250" y="5638800"/>
            <a:ext cx="10477500" cy="838200"/>
          </a:xfrm>
          <a:prstGeom prst="roundRect">
            <a:avLst/>
          </a:prstGeom>
          <a:solidFill>
            <a:srgbClr val="0E2438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CA8D348-DCE1-463A-AE9B-4912286CF0F7}"/>
              </a:ext>
            </a:extLst>
          </p:cNvPr>
          <p:cNvSpPr txBox="1"/>
          <p:nvPr/>
        </p:nvSpPr>
        <p:spPr>
          <a:xfrm>
            <a:off x="1143000" y="5772150"/>
            <a:ext cx="99060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The pricing engine is the part of the ecosystem most likely to act on its own - so it is the part the gate is tightened around hardest. Speed is allowed; self-authorization is not.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178C103-F9FF-4ABC-A2CE-E51740F19E32}"/>
              </a:ext>
            </a:extLst>
          </p:cNvPr>
          <p:cNvSpPr txBox="1"/>
          <p:nvPr/>
        </p:nvSpPr>
        <p:spPr>
          <a:xfrm>
            <a:off x="857250" y="495300"/>
            <a:ext cx="10477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EEF7"/>
                </a:solidFill>
                <a:latin typeface="Segoe UI"/>
                <a:ea typeface="Segoe UI"/>
              </a:rPr>
              <a:t>What is actually running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5625CB-0A0A-43E2-8836-F3A3F3D11761}"/>
              </a:ext>
            </a:extLst>
          </p:cNvPr>
          <p:cNvSpPr txBox="1"/>
          <p:nvPr/>
        </p:nvSpPr>
        <p:spPr>
          <a:xfrm>
            <a:off x="857250" y="106680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i="1">
                <a:solidFill>
                  <a:srgbClr val="93A4BF"/>
                </a:solidFill>
                <a:latin typeface="Segoe UI"/>
                <a:ea typeface="Segoe UI"/>
              </a:rPr>
              <a:t>Not a mock-up - every number below came off a test run on this repo.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6919E22-F6A7-468C-9232-183697093FBD}"/>
              </a:ext>
            </a:extLst>
          </p:cNvPr>
          <p:cNvSpPr/>
          <p:nvPr/>
        </p:nvSpPr>
        <p:spPr>
          <a:xfrm>
            <a:off x="857250" y="1676400"/>
            <a:ext cx="3238500" cy="16192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C2E5D5-4345-4098-B4B1-CE699235EEBA}"/>
              </a:ext>
            </a:extLst>
          </p:cNvPr>
          <p:cNvSpPr txBox="1"/>
          <p:nvPr/>
        </p:nvSpPr>
        <p:spPr>
          <a:xfrm>
            <a:off x="1085850" y="1828800"/>
            <a:ext cx="2781300" cy="76200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38BDF8"/>
                </a:solidFill>
                <a:latin typeface="Segoe UI"/>
                <a:ea typeface="Segoe UI"/>
              </a:rPr>
              <a:t>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C534DC1-7A92-4BB2-9DEA-3B03B04B3B57}"/>
              </a:ext>
            </a:extLst>
          </p:cNvPr>
          <p:cNvSpPr txBox="1"/>
          <p:nvPr/>
        </p:nvSpPr>
        <p:spPr>
          <a:xfrm>
            <a:off x="1085850" y="2647950"/>
            <a:ext cx="27813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</a:rPr>
              <a:t>LLM calls on the decision path</a:t>
            </a:r>
          </a:p>
          <a:p>
            <a:pPr algn="l">
              <a:lnSpc>
                <a:spcPct val="112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the model never returns the verdict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D002A53-830B-40CA-8FF5-87E61986ECF5}"/>
              </a:ext>
            </a:extLst>
          </p:cNvPr>
          <p:cNvSpPr/>
          <p:nvPr/>
        </p:nvSpPr>
        <p:spPr>
          <a:xfrm>
            <a:off x="4476750" y="1676400"/>
            <a:ext cx="3238500" cy="16192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FAA868C-A929-4A0B-B01B-7A205D32FE34}"/>
              </a:ext>
            </a:extLst>
          </p:cNvPr>
          <p:cNvSpPr txBox="1"/>
          <p:nvPr/>
        </p:nvSpPr>
        <p:spPr>
          <a:xfrm>
            <a:off x="4705350" y="1828800"/>
            <a:ext cx="2781300" cy="76200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38BDF8"/>
                </a:solidFill>
                <a:latin typeface="Segoe UI"/>
                <a:ea typeface="Segoe UI"/>
              </a:rPr>
              <a:t>69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695A697-1183-4ABC-878E-3ACA06927256}"/>
              </a:ext>
            </a:extLst>
          </p:cNvPr>
          <p:cNvSpPr txBox="1"/>
          <p:nvPr/>
        </p:nvSpPr>
        <p:spPr>
          <a:xfrm>
            <a:off x="4705350" y="2647950"/>
            <a:ext cx="27813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</a:rPr>
              <a:t>Rego policy tests</a:t>
            </a:r>
          </a:p>
          <a:p>
            <a:pPr algn="l">
              <a:lnSpc>
                <a:spcPct val="112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opa test - 69 of 69, plus the lint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CAD0838-A88C-47EF-A844-EB7147E1737E}"/>
              </a:ext>
            </a:extLst>
          </p:cNvPr>
          <p:cNvSpPr/>
          <p:nvPr/>
        </p:nvSpPr>
        <p:spPr>
          <a:xfrm>
            <a:off x="8096250" y="1676400"/>
            <a:ext cx="3238500" cy="16192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593EFC7-74DE-49CA-8165-6B7AC4C74777}"/>
              </a:ext>
            </a:extLst>
          </p:cNvPr>
          <p:cNvSpPr txBox="1"/>
          <p:nvPr/>
        </p:nvSpPr>
        <p:spPr>
          <a:xfrm>
            <a:off x="8324850" y="1828800"/>
            <a:ext cx="2781300" cy="76200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38BDF8"/>
                </a:solidFill>
                <a:latin typeface="Segoe UI"/>
                <a:ea typeface="Segoe UI"/>
              </a:rPr>
              <a:t>35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C1E685C-9CA0-4D74-A5CC-B28F151BF496}"/>
              </a:ext>
            </a:extLst>
          </p:cNvPr>
          <p:cNvSpPr txBox="1"/>
          <p:nvPr/>
        </p:nvSpPr>
        <p:spPr>
          <a:xfrm>
            <a:off x="8324850" y="2647950"/>
            <a:ext cx="27813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</a:rPr>
              <a:t>End-to-end API tests</a:t>
            </a:r>
          </a:p>
          <a:p>
            <a:pPr algn="l">
              <a:lnSpc>
                <a:spcPct val="112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each one a real decision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3584A38-5D1A-4F6F-AC7D-67A60606F752}"/>
              </a:ext>
            </a:extLst>
          </p:cNvPr>
          <p:cNvSpPr/>
          <p:nvPr/>
        </p:nvSpPr>
        <p:spPr>
          <a:xfrm>
            <a:off x="857250" y="3581400"/>
            <a:ext cx="3238500" cy="16192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775604E-88C0-46C9-BFBF-2A286B20AB1A}"/>
              </a:ext>
            </a:extLst>
          </p:cNvPr>
          <p:cNvSpPr txBox="1"/>
          <p:nvPr/>
        </p:nvSpPr>
        <p:spPr>
          <a:xfrm>
            <a:off x="1085850" y="3733800"/>
            <a:ext cx="2781300" cy="76200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38BDF8"/>
                </a:solidFill>
                <a:latin typeface="Segoe UI"/>
                <a:ea typeface="Segoe UI"/>
              </a:rPr>
              <a:t>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77DB35A-8D44-4377-B50B-46B307B3F1A7}"/>
              </a:ext>
            </a:extLst>
          </p:cNvPr>
          <p:cNvSpPr txBox="1"/>
          <p:nvPr/>
        </p:nvSpPr>
        <p:spPr>
          <a:xfrm>
            <a:off x="1085850" y="4552950"/>
            <a:ext cx="27813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</a:rPr>
              <a:t>Deterministic rule tables</a:t>
            </a:r>
          </a:p>
          <a:p>
            <a:pPr algn="l">
              <a:lnSpc>
                <a:spcPct val="112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staged as data.json, read by Rego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61F95C2-2EA1-4E1D-8E26-806406C5D3FE}"/>
              </a:ext>
            </a:extLst>
          </p:cNvPr>
          <p:cNvSpPr/>
          <p:nvPr/>
        </p:nvSpPr>
        <p:spPr>
          <a:xfrm>
            <a:off x="4476750" y="3581400"/>
            <a:ext cx="3238500" cy="16192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2EB2A8B-336A-4739-8606-43402D7D9F57}"/>
              </a:ext>
            </a:extLst>
          </p:cNvPr>
          <p:cNvSpPr txBox="1"/>
          <p:nvPr/>
        </p:nvSpPr>
        <p:spPr>
          <a:xfrm>
            <a:off x="4705350" y="3733800"/>
            <a:ext cx="2781300" cy="76200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38BDF8"/>
                </a:solidFill>
                <a:latin typeface="Segoe UI"/>
                <a:ea typeface="Segoe UI"/>
              </a:rPr>
              <a:t>3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CF30EF6-4B0C-407B-9995-4BC15E1CE0E1}"/>
              </a:ext>
            </a:extLst>
          </p:cNvPr>
          <p:cNvSpPr txBox="1"/>
          <p:nvPr/>
        </p:nvSpPr>
        <p:spPr>
          <a:xfrm>
            <a:off x="4705350" y="4552950"/>
            <a:ext cx="27813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</a:rPr>
              <a:t>Reference tenants</a:t>
            </a:r>
          </a:p>
          <a:p>
            <a:pPr algn="l">
              <a:lnSpc>
                <a:spcPct val="112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each with its own residency flags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7376D5A3-4D18-4D98-8B3D-71AC24FCDF33}"/>
              </a:ext>
            </a:extLst>
          </p:cNvPr>
          <p:cNvSpPr/>
          <p:nvPr/>
        </p:nvSpPr>
        <p:spPr>
          <a:xfrm>
            <a:off x="8096250" y="3581400"/>
            <a:ext cx="3238500" cy="161925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92C626F-9CC9-43AF-A40B-9EE7DEEB607C}"/>
              </a:ext>
            </a:extLst>
          </p:cNvPr>
          <p:cNvSpPr txBox="1"/>
          <p:nvPr/>
        </p:nvSpPr>
        <p:spPr>
          <a:xfrm>
            <a:off x="8324850" y="3733800"/>
            <a:ext cx="2781300" cy="76200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38BDF8"/>
                </a:solidFill>
                <a:latin typeface="Segoe UI"/>
                <a:ea typeface="Segoe UI"/>
              </a:rPr>
              <a:t>9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3BB9C3E-F415-43F6-B39C-D1003E0FF550}"/>
              </a:ext>
            </a:extLst>
          </p:cNvPr>
          <p:cNvSpPr txBox="1"/>
          <p:nvPr/>
        </p:nvSpPr>
        <p:spPr>
          <a:xfrm>
            <a:off x="8324850" y="4552950"/>
            <a:ext cx="27813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</a:rPr>
              <a:t>Transfer mechanisms</a:t>
            </a:r>
          </a:p>
          <a:p>
            <a:pPr algn="l">
              <a:lnSpc>
                <a:spcPct val="112000"/>
              </a:lnSpc>
            </a:pPr>
            <a:r>
              <a:rPr sz="1100">
                <a:solidFill>
                  <a:srgbClr val="93A4BF"/>
                </a:solidFill>
                <a:latin typeface="Segoe UI"/>
                <a:ea typeface="Segoe UI"/>
              </a:rPr>
              <a:t>only adequacy auto-clears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65D5228-201A-4F97-B9A2-AF06BF2C2643}"/>
              </a:ext>
            </a:extLst>
          </p:cNvPr>
          <p:cNvSpPr/>
          <p:nvPr/>
        </p:nvSpPr>
        <p:spPr>
          <a:xfrm>
            <a:off x="857250" y="5486400"/>
            <a:ext cx="10477500" cy="1066800"/>
          </a:xfrm>
          <a:prstGeom prst="roundRect">
            <a:avLst/>
          </a:prstGeom>
          <a:solidFill>
            <a:srgbClr val="0E2438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3ECCE60-0C69-446A-B04E-57856B09F18F}"/>
              </a:ext>
            </a:extLst>
          </p:cNvPr>
          <p:cNvSpPr txBox="1"/>
          <p:nvPr/>
        </p:nvSpPr>
        <p:spPr>
          <a:xfrm>
            <a:off x="1143000" y="5638800"/>
            <a:ext cx="9906000" cy="838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5A623"/>
                </a:solidFill>
                <a:latin typeface="Segoe UI"/>
                <a:ea typeface="Segoe UI"/>
              </a:rPr>
              <a:t>FOUR COMMANDS TO REPRODUCE IT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E8EEF7"/>
                </a:solidFill>
                <a:latin typeface="Consolas"/>
                <a:ea typeface="Consolas"/>
              </a:rPr>
              <a:t>scripts/policy_test.sh  ·  scripts/policy_build.sh  ·  scripts/opa_serve.sh --bundle  ·  python -m pytest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The build stamps a revision into the bundle and reads it back; the sidecar pulls the artifact over HTTP and hot-reloads it with no restart.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53FFE1A1-4D15-460D-9CCC-19FA4CF7E3A1}"/>
              </a:ext>
            </a:extLst>
          </p:cNvPr>
          <p:cNvPicPr/>
          <p:nvPr/>
        </p:nvPicPr>
        <p:blipFill>
          <a:blip r:embed="rId2"/>
          <a:srcRect l="26111" r="26111"/>
          <a:stretch>
            <a:fillRect/>
          </a:stretch>
        </p:blipFill>
        <p:spPr>
          <a:xfrm>
            <a:off x="7239000" y="0"/>
            <a:ext cx="4095750" cy="6858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3EF9293F-7EA0-4D97-8A48-933ABAE79FD6}"/>
              </a:ext>
            </a:extLst>
          </p:cNvPr>
          <p:cNvSpPr txBox="1"/>
          <p:nvPr/>
        </p:nvSpPr>
        <p:spPr>
          <a:xfrm>
            <a:off x="857250" y="609600"/>
            <a:ext cx="59055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E8EEF7"/>
                </a:solidFill>
                <a:latin typeface="Segoe UI"/>
                <a:ea typeface="Segoe UI"/>
              </a:rPr>
              <a:t>Fast and wrong is a liability.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7F00F4D-2C2E-41D1-82A9-C145E539BE8C}"/>
              </a:ext>
            </a:extLst>
          </p:cNvPr>
          <p:cNvSpPr txBox="1"/>
          <p:nvPr/>
        </p:nvSpPr>
        <p:spPr>
          <a:xfrm>
            <a:off x="857250" y="2133600"/>
            <a:ext cx="5905500" cy="55778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500">
                <a:solidFill>
                  <a:srgbClr val="93A4BF"/>
                </a:solidFill>
                <a:latin typeface="Segoe UI"/>
                <a:ea typeface="Segoe UI"/>
              </a:rPr>
              <a:t>Every verdict is written to an append-only, hash-chained ledger. Change one byte and the chain says so.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488301E-B7A8-4BA0-8BD7-CC0134C3DE70}"/>
              </a:ext>
            </a:extLst>
          </p:cNvPr>
          <p:cNvSpPr/>
          <p:nvPr/>
        </p:nvSpPr>
        <p:spPr>
          <a:xfrm>
            <a:off x="857250" y="2857500"/>
            <a:ext cx="5905500" cy="12573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231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7F50336-5604-4F5F-954C-49C12286C8B7}"/>
              </a:ext>
            </a:extLst>
          </p:cNvPr>
          <p:cNvSpPr txBox="1"/>
          <p:nvPr/>
        </p:nvSpPr>
        <p:spPr>
          <a:xfrm>
            <a:off x="1085850" y="2990850"/>
            <a:ext cx="5448300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F5A623"/>
                </a:solidFill>
                <a:latin typeface="Segoe UI"/>
                <a:ea typeface="Segoe UI"/>
              </a:rPr>
              <a:t>TAMPER TEST, RUN TODAY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93A4BF"/>
                </a:solidFill>
                <a:latin typeface="Segoe UI"/>
                <a:ea typeface="Segoe UI"/>
              </a:rPr>
              <a:t>Rewrite the decision on one recorded line, then ask the ledger to verify itself: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>
                <a:solidFill>
                  <a:srgbClr val="E8EEF7"/>
                </a:solidFill>
                <a:latin typeface="Consolas"/>
                <a:ea typeface="Consolas"/>
              </a:rPr>
              <a:t>{ "ok": false, "broken_at_seq": 0,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8EEF7"/>
                </a:solidFill>
                <a:latin typeface="Consolas"/>
                <a:ea typeface="Consolas"/>
              </a:rPr>
              <a:t>  "reason": "payload edited" }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6E234D9-32AC-46E1-A9CC-B6728A9754C8}"/>
              </a:ext>
            </a:extLst>
          </p:cNvPr>
          <p:cNvSpPr txBox="1"/>
          <p:nvPr/>
        </p:nvSpPr>
        <p:spPr>
          <a:xfrm>
            <a:off x="857250" y="4362450"/>
            <a:ext cx="285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5A623"/>
                </a:solidFill>
                <a:latin typeface="Segoe UI"/>
                <a:ea typeface="Segoe UI"/>
              </a:rPr>
              <a:t>WHAT COMES NEXT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586363A-D169-4305-BFE2-1C6296272EE8}"/>
              </a:ext>
            </a:extLst>
          </p:cNvPr>
          <p:cNvSpPr txBox="1"/>
          <p:nvPr/>
        </p:nvSpPr>
        <p:spPr>
          <a:xfrm>
            <a:off x="857250" y="4648200"/>
            <a:ext cx="5905500" cy="165669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38BDF8"/>
                </a:solidFill>
                <a:latin typeface="Segoe UI"/>
                <a:ea typeface="Segoe UI"/>
              </a:rPr>
              <a:t>1 </a:t>
            </a:r>
            <a:r>
              <a:rPr sz="1300">
                <a:solidFill>
                  <a:srgbClr val="E8EEF7"/>
                </a:solidFill>
                <a:latin typeface="Segoe UI"/>
                <a:ea typeface="Segoe UI"/>
              </a:rPr>
              <a:t>Tables sourced and signed off by a compliance owner. Today they carry an ILLUSTRATIVE_* legal basis, which is exactly why the ceiling exists.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38BDF8"/>
                </a:solidFill>
                <a:latin typeface="Segoe UI"/>
                <a:ea typeface="Segoe UI"/>
              </a:rPr>
              <a:t>2 </a:t>
            </a:r>
            <a:r>
              <a:rPr sz="1300">
                <a:solidFill>
                  <a:srgbClr val="E8EEF7"/>
                </a:solidFill>
                <a:latin typeface="Segoe UI"/>
                <a:ea typeface="Segoe UI"/>
              </a:rPr>
              <a:t>Sanctions / denied-party and customs packs on the same spine - new Rego and new tables, no new engine.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38BDF8"/>
                </a:solidFill>
                <a:latin typeface="Segoe UI"/>
                <a:ea typeface="Segoe UI"/>
              </a:rPr>
              <a:t>3 </a:t>
            </a:r>
            <a:r>
              <a:rPr sz="1300">
                <a:solidFill>
                  <a:srgbClr val="E8EEF7"/>
                </a:solidFill>
                <a:latin typeface="Segoe UI"/>
                <a:ea typeface="Segoe UI"/>
              </a:rPr>
              <a:t>Shared append-only storage so several replicas chain into one ledger instead of one file per node.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BEFE1AD-7263-40B0-AC4E-3C4E9C385F6E}"/>
              </a:ext>
            </a:extLst>
          </p:cNvPr>
          <p:cNvSpPr txBox="1"/>
          <p:nvPr/>
        </p:nvSpPr>
        <p:spPr>
          <a:xfrm>
            <a:off x="857250" y="6324600"/>
            <a:ext cx="5905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93A4BF"/>
                </a:solidFill>
                <a:latin typeface="Consolas"/>
                <a:ea typeface="Consolas"/>
              </a:rPr>
              <a:t>C:\Users\Lalit\Documents\Qoder\2026-10-10\d20d45e6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